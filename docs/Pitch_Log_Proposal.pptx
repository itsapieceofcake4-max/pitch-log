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B9EFF"/>
                </a:solidFill>
                <a:latin typeface="Meiryo"/>
              </a:rPr>
              <a:t>PITCH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Meiryo"/>
              </a:rPr>
              <a:t>因果で測る、選手の本当の価値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520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93AAC6"/>
                </a:solidFill>
                <a:latin typeface="Meiryo"/>
              </a:rPr>
              <a:t>戦術分析 → 貢献度 → 査定 → 編成・移籍 をつなぐ意思決定基盤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4160520"/>
            <a:ext cx="3703320" cy="0"/>
          </a:xfrm>
          <a:prstGeom prst="bentConnector3">
            <a:avLst/>
          </a:prstGeom>
          <a:ln w="12700">
            <a:solidFill>
              <a:srgbClr val="2C4A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68680" y="4297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E9B"/>
                </a:solidFill>
                <a:latin typeface="Meiryo"/>
              </a:rPr>
              <a:t>サッカー戦術データ分析プラットフォーム ｜ 顧客提案資料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126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47E9B"/>
                </a:solidFill>
                <a:latin typeface="Meiryo"/>
              </a:rPr>
              <a:t>© Pitch Log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B9EFF"/>
                </a:solidFill>
                <a:latin typeface="Meiryo"/>
              </a:rPr>
              <a:t>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Meiryo"/>
              </a:rPr>
              <a:t>既存の評価は「相関」で止まっている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3383280" cy="2468880"/>
          </a:xfrm>
          <a:prstGeom prst="roundRect">
            <a:avLst>
              <a:gd name="adj" fmla="val 6000"/>
            </a:avLst>
          </a:prstGeom>
          <a:solidFill>
            <a:srgbClr val="1A2B41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2286000"/>
            <a:ext cx="457200" cy="73152"/>
          </a:xfrm>
          <a:prstGeom prst="roundRect">
            <a:avLst>
              <a:gd name="adj" fmla="val 30000"/>
            </a:avLst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5146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eiryo"/>
              </a:rPr>
              <a:t>記述指標の限界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46120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3AAC6"/>
                </a:solidFill>
                <a:latin typeface="Meiryo"/>
              </a:rPr>
              <a:t>合計 xT・VAEP・走行距離…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93AAC6"/>
                </a:solidFill>
                <a:latin typeface="Meiryo"/>
              </a:rPr>
              <a:t>“やった量”は分かる。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920240"/>
            <a:ext cx="3383280" cy="2468880"/>
          </a:xfrm>
          <a:prstGeom prst="roundRect">
            <a:avLst>
              <a:gd name="adj" fmla="val 6000"/>
            </a:avLst>
          </a:prstGeom>
          <a:solidFill>
            <a:srgbClr val="1A2B41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37760" y="2286000"/>
            <a:ext cx="457200" cy="73152"/>
          </a:xfrm>
          <a:prstGeom prst="roundRect">
            <a:avLst>
              <a:gd name="adj" fmla="val 30000"/>
            </a:avLst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5146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eiryo"/>
              </a:rPr>
              <a:t>「なぜ効くか」が不明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246120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3AAC6"/>
                </a:solidFill>
                <a:latin typeface="Meiryo"/>
              </a:rPr>
              <a:t>レーダーやランキングは相関。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93AAC6"/>
                </a:solidFill>
                <a:latin typeface="Meiryo"/>
              </a:rPr>
              <a:t>因果は語れない。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920240"/>
            <a:ext cx="3383280" cy="2468880"/>
          </a:xfrm>
          <a:prstGeom prst="roundRect">
            <a:avLst>
              <a:gd name="adj" fmla="val 6000"/>
            </a:avLst>
          </a:prstGeom>
          <a:solidFill>
            <a:srgbClr val="1A2B41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32520" y="2286000"/>
            <a:ext cx="457200" cy="73152"/>
          </a:xfrm>
          <a:prstGeom prst="roundRect">
            <a:avLst>
              <a:gd name="adj" fmla="val 30000"/>
            </a:avLst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25146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eiryo"/>
              </a:rPr>
              <a:t>「抜けたら」が不明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246120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3AAC6"/>
                </a:solidFill>
                <a:latin typeface="Meiryo"/>
              </a:rPr>
              <a:t>選手の必要性・代替可能性を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93AAC6"/>
                </a:solidFill>
                <a:latin typeface="Meiryo"/>
              </a:rPr>
              <a:t>定量化できない。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00600"/>
            <a:ext cx="10515600" cy="822960"/>
          </a:xfrm>
          <a:prstGeom prst="roundRect">
            <a:avLst>
              <a:gd name="adj" fmla="val 8000"/>
            </a:avLst>
          </a:prstGeom>
          <a:solidFill>
            <a:srgbClr val="16273B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029200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8F0FA"/>
                </a:solidFill>
                <a:latin typeface="Meiryo"/>
              </a:rPr>
              <a:t>業界標準＝StatsBomb レーダー＋動画。Wyscout・SkillCorner も含め、ほぼ全社が同じ“相関の絵”。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B9EFF"/>
                </a:solidFill>
                <a:latin typeface="Meiryo"/>
              </a:rPr>
              <a:t>提案の核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Meiryo"/>
              </a:rPr>
              <a:t>相関から、因果へ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3AAC6"/>
                </a:solidFill>
                <a:latin typeface="Meiryo"/>
              </a:rPr>
              <a:t>“効いた量”ではなく、“引き起こした価値”を測る。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1A2B41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377439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B9EFF"/>
                </a:solidFill>
                <a:latin typeface="Meiry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7889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eiryo"/>
              </a:rPr>
              <a:t>反実仮想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2900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3B9EFF"/>
                </a:solidFill>
                <a:latin typeface="Meiryo"/>
              </a:rPr>
              <a:t>居なければチーム脅威 −34%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29767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3AAC6"/>
                </a:solidFill>
                <a:latin typeface="Meiryo"/>
              </a:rPr>
              <a:t>不在を仮想して価値を測る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210312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1A2B41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2377439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BD4A8"/>
                </a:solidFill>
                <a:latin typeface="Meiry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7889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eiryo"/>
              </a:rPr>
              <a:t>時間ラグ因果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42900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2BD4A8"/>
                </a:solidFill>
                <a:latin typeface="Meiryo"/>
              </a:rPr>
              <a:t>動き(t) → 0.5秒後の味方脅威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29767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3AAC6"/>
                </a:solidFill>
                <a:latin typeface="Meiryo"/>
              </a:rPr>
              <a:t>“引き起こした”方向を特定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210312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1A2B41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20" y="2377439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C24B"/>
                </a:solidFill>
                <a:latin typeface="Meiry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27889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eiryo"/>
              </a:rPr>
              <a:t>オフボール因果クレジット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342900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FFC24B"/>
                </a:solidFill>
                <a:latin typeface="Meiryo"/>
              </a:rPr>
              <a:t>タッチ0でも貢献を配分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29767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3AAC6"/>
                </a:solidFill>
                <a:latin typeface="Meiryo"/>
              </a:rPr>
              <a:t>走りでDFを引きつけた価値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B9EFF"/>
                </a:solidFill>
                <a:latin typeface="Meiryo"/>
              </a:rPr>
              <a:t>アウトプットの全体像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Meiryo"/>
              </a:rPr>
              <a:t>個の評価から、編成の意思決定まで一気通貫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2468880" cy="1188720"/>
          </a:xfrm>
          <a:prstGeom prst="roundRect">
            <a:avLst>
              <a:gd name="adj" fmla="val 10000"/>
            </a:avLst>
          </a:prstGeom>
          <a:solidFill>
            <a:srgbClr val="1A2B41"/>
          </a:solidFill>
          <a:ln w="15875">
            <a:solidFill>
              <a:srgbClr val="3B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67712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eiryo"/>
              </a:rPr>
              <a:t>戦術分析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6148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3AAC6"/>
                </a:solidFill>
                <a:latin typeface="Meiryo"/>
              </a:rPr>
              <a:t>局面に分解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337560" y="2468880"/>
            <a:ext cx="411480" cy="274320"/>
          </a:xfrm>
          <a:prstGeom prst="rightArrow">
            <a:avLst/>
          </a:prstGeom>
          <a:solidFill>
            <a:srgbClr val="647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94760" y="2011680"/>
            <a:ext cx="2468880" cy="1188720"/>
          </a:xfrm>
          <a:prstGeom prst="roundRect">
            <a:avLst>
              <a:gd name="adj" fmla="val 10000"/>
            </a:avLst>
          </a:prstGeom>
          <a:solidFill>
            <a:srgbClr val="1A2B41"/>
          </a:solidFill>
          <a:ln w="15875">
            <a:solidFill>
              <a:srgbClr val="3B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2267712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eiryo"/>
              </a:rPr>
              <a:t>貢献度の可視化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76148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3AAC6"/>
                </a:solidFill>
                <a:latin typeface="Meiryo"/>
              </a:rPr>
              <a:t>誰が価値を生んだか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09360" y="2468880"/>
            <a:ext cx="411480" cy="274320"/>
          </a:xfrm>
          <a:prstGeom prst="rightArrow">
            <a:avLst/>
          </a:prstGeom>
          <a:solidFill>
            <a:srgbClr val="647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0" y="2011680"/>
            <a:ext cx="2468880" cy="1188720"/>
          </a:xfrm>
          <a:prstGeom prst="roundRect">
            <a:avLst>
              <a:gd name="adj" fmla="val 10000"/>
            </a:avLst>
          </a:prstGeom>
          <a:solidFill>
            <a:srgbClr val="1A2B41"/>
          </a:solidFill>
          <a:ln w="15875">
            <a:solidFill>
              <a:srgbClr val="3B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267712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eiryo"/>
              </a:rPr>
              <a:t>選手査定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76148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3AAC6"/>
                </a:solidFill>
                <a:latin typeface="Meiryo"/>
              </a:rPr>
              <a:t>総合スコア化・比較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281160" y="2468880"/>
            <a:ext cx="411480" cy="274320"/>
          </a:xfrm>
          <a:prstGeom prst="rightArrow">
            <a:avLst/>
          </a:prstGeom>
          <a:solidFill>
            <a:srgbClr val="647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738360" y="2011680"/>
            <a:ext cx="2468880" cy="1188720"/>
          </a:xfrm>
          <a:prstGeom prst="roundRect">
            <a:avLst>
              <a:gd name="adj" fmla="val 10000"/>
            </a:avLst>
          </a:prstGeom>
          <a:solidFill>
            <a:srgbClr val="1A2B41"/>
          </a:solidFill>
          <a:ln w="15875">
            <a:solidFill>
              <a:srgbClr val="2BD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2267712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eiryo"/>
              </a:rPr>
              <a:t>編成・移籍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276148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3AAC6"/>
                </a:solidFill>
                <a:latin typeface="Meiryo"/>
              </a:rPr>
              <a:t>更新／獲得／放出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657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B9EFF"/>
                </a:solidFill>
                <a:latin typeface="Meiryo"/>
              </a:rPr>
              <a:t>これを支える3つの画面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114800"/>
            <a:ext cx="3383280" cy="1554480"/>
          </a:xfrm>
          <a:prstGeom prst="roundRect">
            <a:avLst>
              <a:gd name="adj" fmla="val 6000"/>
            </a:avLst>
          </a:prstGeom>
          <a:solidFill>
            <a:srgbClr val="16273B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43484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eiryo"/>
              </a:rPr>
              <a:t>① 選手評価ダッシュボード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0292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3AAC6"/>
                </a:solidFill>
                <a:latin typeface="Meiryo"/>
              </a:rPr>
              <a:t>レーダーで掴む（入口）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17720" y="4114800"/>
            <a:ext cx="3383280" cy="1554480"/>
          </a:xfrm>
          <a:prstGeom prst="roundRect">
            <a:avLst>
              <a:gd name="adj" fmla="val 6000"/>
            </a:avLst>
          </a:prstGeom>
          <a:solidFill>
            <a:srgbClr val="16273B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443484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eiryo"/>
              </a:rPr>
              <a:t>② 因果ビュー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50292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3AAC6"/>
                </a:solidFill>
                <a:latin typeface="Meiryo"/>
              </a:rPr>
              <a:t>独自の深掘り（差別化）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4114800"/>
            <a:ext cx="3383280" cy="1554480"/>
          </a:xfrm>
          <a:prstGeom prst="roundRect">
            <a:avLst>
              <a:gd name="adj" fmla="val 6000"/>
            </a:avLst>
          </a:prstGeom>
          <a:solidFill>
            <a:srgbClr val="16273B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443484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eiryo"/>
              </a:rPr>
              <a:t>③ 反実仮想シミュレータ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50292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3AAC6"/>
                </a:solidFill>
                <a:latin typeface="Meiryo"/>
              </a:rPr>
              <a:t>編成・移籍の判断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B9EFF"/>
                </a:solidFill>
                <a:latin typeface="Meiryo"/>
              </a:rPr>
              <a:t>① 選手評価ダッシュボード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Meiryo"/>
              </a:rPr>
              <a:t>まず、既存の言語で手に取らせる</a:t>
            </a:r>
          </a:p>
        </p:txBody>
      </p:sp>
      <p:sp>
        <p:nvSpPr>
          <p:cNvPr id="5" name="Freeform 4"/>
          <p:cNvSpPr/>
          <p:nvPr/>
        </p:nvSpPr>
        <p:spPr>
          <a:xfrm>
            <a:off x="2743200" y="3657600"/>
            <a:ext cx="914400" cy="0"/>
          </a:xfrm>
          <a:custGeom>
            <a:avLst/>
            <a:gdLst/>
            <a:ahLst/>
            <a:cxnLst/>
            <a:rect l="l" t="t" r="r" b="b"/>
            <a:pathLst>
              <a:path w="1" h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2743200" y="2743200"/>
            <a:ext cx="914400" cy="1828800"/>
          </a:xfrm>
          <a:custGeom>
            <a:avLst/>
            <a:gdLst/>
            <a:ahLst/>
            <a:cxnLst/>
            <a:rect l="l" t="t" r="r" b="b"/>
            <a:pathLst>
              <a:path w="1" h="2">
                <a:moveTo>
                  <a:pt x="1" y="0"/>
                </a:move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noFill/>
          <a:ln w="9525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743200" y="2743200"/>
            <a:ext cx="914400" cy="1828800"/>
          </a:xfrm>
          <a:custGeom>
            <a:avLst/>
            <a:gdLst/>
            <a:ahLst/>
            <a:cxnLst/>
            <a:rect l="l" t="t" r="r" b="b"/>
            <a:pathLst>
              <a:path w="1" h="2">
                <a:moveTo>
                  <a:pt x="1" y="0"/>
                </a:moveTo>
                <a:lnTo>
                  <a:pt x="1" y="0"/>
                </a:lnTo>
                <a:lnTo>
                  <a:pt x="1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1828800" y="2743200"/>
            <a:ext cx="2743200" cy="18288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2" y="0"/>
                </a:moveTo>
                <a:lnTo>
                  <a:pt x="3" y="0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3200400" y="2377440"/>
            <a:ext cx="0" cy="1280160"/>
          </a:xfrm>
          <a:prstGeom prst="bentConnector3">
            <a:avLst/>
          </a:prstGeom>
          <a:ln w="9525">
            <a:solidFill>
              <a:srgbClr val="2C4A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200400" y="3017520"/>
            <a:ext cx="1108618" cy="640080"/>
          </a:xfrm>
          <a:prstGeom prst="bentConnector3">
            <a:avLst/>
          </a:prstGeom>
          <a:ln w="9525">
            <a:solidFill>
              <a:srgbClr val="2C4A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0" y="3657600"/>
            <a:ext cx="1108618" cy="640080"/>
          </a:xfrm>
          <a:prstGeom prst="bentConnector3">
            <a:avLst/>
          </a:prstGeom>
          <a:ln w="9525">
            <a:solidFill>
              <a:srgbClr val="2C4A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0" y="3657600"/>
            <a:ext cx="0" cy="1280160"/>
          </a:xfrm>
          <a:prstGeom prst="bentConnector3">
            <a:avLst/>
          </a:prstGeom>
          <a:ln w="9525">
            <a:solidFill>
              <a:srgbClr val="2C4A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091781" y="3657600"/>
            <a:ext cx="1108619" cy="640080"/>
          </a:xfrm>
          <a:prstGeom prst="bentConnector3">
            <a:avLst/>
          </a:prstGeom>
          <a:ln w="9525">
            <a:solidFill>
              <a:srgbClr val="2C4A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2091781" y="3017520"/>
            <a:ext cx="1108619" cy="640080"/>
          </a:xfrm>
          <a:prstGeom prst="bentConnector3">
            <a:avLst/>
          </a:prstGeom>
          <a:ln w="9525">
            <a:solidFill>
              <a:srgbClr val="2C4A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2743200" y="2743200"/>
            <a:ext cx="914400" cy="1828800"/>
          </a:xfrm>
          <a:custGeom>
            <a:avLst/>
            <a:gdLst/>
            <a:ahLst/>
            <a:cxnLst/>
            <a:rect l="l" t="t" r="r" b="b"/>
            <a:pathLst>
              <a:path w="1" h="2">
                <a:moveTo>
                  <a:pt x="1" y="0"/>
                </a:move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close/>
              </a:path>
            </a:pathLst>
          </a:custGeom>
          <a:solidFill>
            <a:srgbClr val="3B9EFF">
              <a:alpha val="28000"/>
            </a:srgbClr>
          </a:solidFill>
          <a:ln w="28575">
            <a:solidFill>
              <a:srgbClr val="3B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743200" y="2743200"/>
            <a:ext cx="914400" cy="1828800"/>
          </a:xfrm>
          <a:custGeom>
            <a:avLst/>
            <a:gdLst/>
            <a:ahLst/>
            <a:cxnLst/>
            <a:rect l="l" t="t" r="r" b="b"/>
            <a:pathLst>
              <a:path w="1" h="2">
                <a:moveTo>
                  <a:pt x="1" y="0"/>
                </a:move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noFill/>
          <a:ln w="22225">
            <a:solidFill>
              <a:srgbClr val="8FA0B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23160" y="1781251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93AAC6"/>
                </a:solidFill>
                <a:latin typeface="Meiryo"/>
              </a:rPr>
              <a:t>攻撃貢献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2191" y="2600553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93AAC6"/>
                </a:solidFill>
                <a:latin typeface="Meiryo"/>
              </a:rPr>
              <a:t>前進性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2191" y="4495190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93AAC6"/>
                </a:solidFill>
                <a:latin typeface="Meiryo"/>
              </a:rPr>
              <a:t>守備貢献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5314492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93AAC6"/>
                </a:solidFill>
                <a:latin typeface="Meiryo"/>
              </a:rPr>
              <a:t>オフボール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128" y="4495190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93AAC6"/>
                </a:solidFill>
                <a:latin typeface="Meiryo"/>
              </a:rPr>
              <a:t>個の打開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128" y="2600553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93AAC6"/>
                </a:solidFill>
                <a:latin typeface="Meiryo"/>
              </a:rPr>
              <a:t>走力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20240" y="5971032"/>
            <a:ext cx="256032" cy="118872"/>
          </a:xfrm>
          <a:prstGeom prst="roundRect">
            <a:avLst>
              <a:gd name="adj" fmla="val 30000"/>
            </a:avLst>
          </a:prstGeom>
          <a:solidFill>
            <a:srgbClr val="3B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49424" y="590702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3AAC6"/>
                </a:solidFill>
                <a:latin typeface="Meiryo"/>
              </a:rPr>
              <a:t>本選手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026664" y="6035040"/>
            <a:ext cx="256032" cy="0"/>
          </a:xfrm>
          <a:prstGeom prst="bentConnector3">
            <a:avLst/>
          </a:prstGeom>
          <a:ln w="25400">
            <a:solidFill>
              <a:srgbClr val="8FA0B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55848" y="590702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3AAC6"/>
                </a:solidFill>
                <a:latin typeface="Meiryo"/>
              </a:rPr>
              <a:t>同ポジ平均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01168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1A2B41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24028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3AAC6"/>
                </a:solidFill>
                <a:latin typeface="Meiryo"/>
              </a:rPr>
              <a:t>総合評価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578608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3B9EFF"/>
                </a:solidFill>
                <a:latin typeface="Meiryo"/>
              </a:rPr>
              <a:t>87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09067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47E9B"/>
                </a:solidFill>
                <a:latin typeface="Meiryo"/>
              </a:rPr>
              <a:t>/100 ・上位6%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20" y="201168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1A2B41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224028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3AAC6"/>
                </a:solidFill>
                <a:latin typeface="Meiryo"/>
              </a:rPr>
              <a:t>攻撃貢献 xT/90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2578608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3B9EFF"/>
                </a:solidFill>
                <a:latin typeface="Meiryo"/>
              </a:rPr>
              <a:t>+0.42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379476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1A2B41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02336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3AAC6"/>
                </a:solidFill>
                <a:latin typeface="Meiryo"/>
              </a:rPr>
              <a:t>守備貢献 VAEP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361688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3B9EFF"/>
                </a:solidFill>
                <a:latin typeface="Meiryo"/>
              </a:rPr>
              <a:t>78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20" y="379476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1A2B41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402336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3AAC6"/>
                </a:solidFill>
                <a:latin typeface="Meiryo"/>
              </a:rPr>
              <a:t>推定市場価値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4361688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3B9EFF"/>
                </a:solidFill>
                <a:latin typeface="Meiryo"/>
              </a:rPr>
              <a:t>€12.5M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544068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3AAC6"/>
                </a:solidFill>
                <a:latin typeface="Meiryo"/>
              </a:rPr>
              <a:t>ポジション別パーセンタイル・レーダー＝既存ツールと同じ“入口”。ここで掴んで、深掘りへ誘導する。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B9EFF"/>
                </a:solidFill>
                <a:latin typeface="Meiryo"/>
              </a:rPr>
              <a:t>差別化の起点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Meiryo"/>
              </a:rPr>
              <a:t>レーダーを「因果寄与」で塗り替える</a:t>
            </a:r>
          </a:p>
        </p:txBody>
      </p:sp>
      <p:sp>
        <p:nvSpPr>
          <p:cNvPr id="5" name="Freeform 4"/>
          <p:cNvSpPr/>
          <p:nvPr/>
        </p:nvSpPr>
        <p:spPr>
          <a:xfrm>
            <a:off x="2743200" y="3657600"/>
            <a:ext cx="914400" cy="0"/>
          </a:xfrm>
          <a:custGeom>
            <a:avLst/>
            <a:gdLst/>
            <a:ahLst/>
            <a:cxnLst/>
            <a:rect l="l" t="t" r="r" b="b"/>
            <a:pathLst>
              <a:path w="1" h="0"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2743200" y="2743200"/>
            <a:ext cx="914400" cy="1828800"/>
          </a:xfrm>
          <a:custGeom>
            <a:avLst/>
            <a:gdLst/>
            <a:ahLst/>
            <a:cxnLst/>
            <a:rect l="l" t="t" r="r" b="b"/>
            <a:pathLst>
              <a:path w="1" h="2">
                <a:moveTo>
                  <a:pt x="1" y="0"/>
                </a:move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noFill/>
          <a:ln w="9525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743200" y="2743200"/>
            <a:ext cx="914400" cy="1828800"/>
          </a:xfrm>
          <a:custGeom>
            <a:avLst/>
            <a:gdLst/>
            <a:ahLst/>
            <a:cxnLst/>
            <a:rect l="l" t="t" r="r" b="b"/>
            <a:pathLst>
              <a:path w="1" h="2">
                <a:moveTo>
                  <a:pt x="1" y="0"/>
                </a:moveTo>
                <a:lnTo>
                  <a:pt x="1" y="0"/>
                </a:lnTo>
                <a:lnTo>
                  <a:pt x="1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1828800" y="2743200"/>
            <a:ext cx="2743200" cy="18288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2" y="0"/>
                </a:moveTo>
                <a:lnTo>
                  <a:pt x="3" y="0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3200400" y="2377440"/>
            <a:ext cx="0" cy="1280160"/>
          </a:xfrm>
          <a:prstGeom prst="bentConnector3">
            <a:avLst/>
          </a:prstGeom>
          <a:ln w="9525">
            <a:solidFill>
              <a:srgbClr val="2C4A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200400" y="3017520"/>
            <a:ext cx="1108618" cy="640080"/>
          </a:xfrm>
          <a:prstGeom prst="bentConnector3">
            <a:avLst/>
          </a:prstGeom>
          <a:ln w="9525">
            <a:solidFill>
              <a:srgbClr val="2C4A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0" y="3657600"/>
            <a:ext cx="1108618" cy="640080"/>
          </a:xfrm>
          <a:prstGeom prst="bentConnector3">
            <a:avLst/>
          </a:prstGeom>
          <a:ln w="9525">
            <a:solidFill>
              <a:srgbClr val="2C4A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0" y="3657600"/>
            <a:ext cx="0" cy="1280160"/>
          </a:xfrm>
          <a:prstGeom prst="bentConnector3">
            <a:avLst/>
          </a:prstGeom>
          <a:ln w="9525">
            <a:solidFill>
              <a:srgbClr val="2C4A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091781" y="3657600"/>
            <a:ext cx="1108619" cy="640080"/>
          </a:xfrm>
          <a:prstGeom prst="bentConnector3">
            <a:avLst/>
          </a:prstGeom>
          <a:ln w="9525">
            <a:solidFill>
              <a:srgbClr val="2C4A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2091781" y="3017520"/>
            <a:ext cx="1108619" cy="640080"/>
          </a:xfrm>
          <a:prstGeom prst="bentConnector3">
            <a:avLst/>
          </a:prstGeom>
          <a:ln w="9525">
            <a:solidFill>
              <a:srgbClr val="2C4A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2743200" y="2743200"/>
            <a:ext cx="1828800" cy="18288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1" y="0"/>
                </a:moveTo>
                <a:lnTo>
                  <a:pt x="1" y="0"/>
                </a:lnTo>
                <a:lnTo>
                  <a:pt x="2" y="2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close/>
              </a:path>
            </a:pathLst>
          </a:custGeom>
          <a:solidFill>
            <a:srgbClr val="3B9EFF">
              <a:alpha val="28000"/>
            </a:srgbClr>
          </a:solidFill>
          <a:ln w="28575">
            <a:solidFill>
              <a:srgbClr val="3B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743200" y="2743200"/>
            <a:ext cx="914400" cy="1828800"/>
          </a:xfrm>
          <a:custGeom>
            <a:avLst/>
            <a:gdLst/>
            <a:ahLst/>
            <a:cxnLst/>
            <a:rect l="l" t="t" r="r" b="b"/>
            <a:pathLst>
              <a:path w="1" h="2">
                <a:moveTo>
                  <a:pt x="1" y="0"/>
                </a:move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noFill/>
          <a:ln w="22225">
            <a:solidFill>
              <a:srgbClr val="8FA0B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23160" y="1781251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93AAC6"/>
                </a:solidFill>
                <a:latin typeface="Meiryo"/>
              </a:rPr>
              <a:t>攻撃因果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2191" y="2600553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93AAC6"/>
                </a:solidFill>
                <a:latin typeface="Meiryo"/>
              </a:rPr>
              <a:t>前進因果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2191" y="4495190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3B9EFF"/>
                </a:solidFill>
                <a:latin typeface="Meiryo"/>
              </a:rPr>
              <a:t>連鎖ハブ性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5314492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3B9EFF"/>
                </a:solidFill>
                <a:latin typeface="Meiryo"/>
              </a:rPr>
              <a:t>オフボール牽引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128" y="4495190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3B9EFF"/>
                </a:solidFill>
                <a:latin typeface="Meiryo"/>
              </a:rPr>
              <a:t>代替不可性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128" y="2600553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93AAC6"/>
                </a:solidFill>
                <a:latin typeface="Meiryo"/>
              </a:rPr>
              <a:t>守備因果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20240" y="5971032"/>
            <a:ext cx="256032" cy="118872"/>
          </a:xfrm>
          <a:prstGeom prst="roundRect">
            <a:avLst>
              <a:gd name="adj" fmla="val 30000"/>
            </a:avLst>
          </a:prstGeom>
          <a:solidFill>
            <a:srgbClr val="3B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49424" y="590702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3AAC6"/>
                </a:solidFill>
                <a:latin typeface="Meiryo"/>
              </a:rPr>
              <a:t>本選手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026664" y="6035040"/>
            <a:ext cx="256032" cy="0"/>
          </a:xfrm>
          <a:prstGeom prst="bentConnector3">
            <a:avLst/>
          </a:prstGeom>
          <a:ln w="25400">
            <a:solidFill>
              <a:srgbClr val="8FA0B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55848" y="590702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3AAC6"/>
                </a:solidFill>
                <a:latin typeface="Meiryo"/>
              </a:rPr>
              <a:t>同ポジ平均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011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eiryo"/>
              </a:rPr>
              <a:t>記述軸 → 因果軸への置き換え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2651760"/>
            <a:ext cx="109728" cy="502920"/>
          </a:xfrm>
          <a:prstGeom prst="rect">
            <a:avLst/>
          </a:prstGeom>
          <a:solidFill>
            <a:srgbClr val="3B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65176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B9EFF"/>
                </a:solidFill>
                <a:latin typeface="Meiryo"/>
              </a:rPr>
              <a:t>オフボール牽引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98094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3AAC6"/>
                </a:solidFill>
                <a:latin typeface="Meiryo"/>
              </a:rPr>
              <a:t>タッチ0でDFを引く因果クレジット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3429000"/>
            <a:ext cx="109728" cy="502920"/>
          </a:xfrm>
          <a:prstGeom prst="rect">
            <a:avLst/>
          </a:prstGeom>
          <a:solidFill>
            <a:srgbClr val="3B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4290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B9EFF"/>
                </a:solidFill>
                <a:latin typeface="Meiryo"/>
              </a:rPr>
              <a:t>代替不可性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75818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3AAC6"/>
                </a:solidFill>
                <a:latin typeface="Meiryo"/>
              </a:rPr>
              <a:t>不在時にチーム脅威が落ちる度合い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4206240"/>
            <a:ext cx="109728" cy="502920"/>
          </a:xfrm>
          <a:prstGeom prst="rect">
            <a:avLst/>
          </a:prstGeom>
          <a:solidFill>
            <a:srgbClr val="3B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420624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B9EFF"/>
                </a:solidFill>
                <a:latin typeface="Meiryo"/>
              </a:rPr>
              <a:t>連鎖ハブ性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53542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3AAC6"/>
                </a:solidFill>
                <a:latin typeface="Meiryo"/>
              </a:rPr>
              <a:t>因果ネットワークで誰を動かすか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512064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3AAC6"/>
                </a:solidFill>
                <a:latin typeface="Meiryo"/>
              </a:rPr>
              <a:t>“個の打開・走力”のような単独スキル軸を捨て、因果でしか測れない軸に入れ替える。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B9EFF"/>
                </a:solidFill>
                <a:latin typeface="Meiryo"/>
              </a:rPr>
              <a:t>② 因果ビュー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Meiryo"/>
              </a:rPr>
              <a:t>“なぜ効くか”を4つの角度で示す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212080" cy="1783080"/>
          </a:xfrm>
          <a:prstGeom prst="roundRect">
            <a:avLst>
              <a:gd name="adj" fmla="val 6000"/>
            </a:avLst>
          </a:prstGeom>
          <a:solidFill>
            <a:srgbClr val="1A2B41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eiryo"/>
              </a:rPr>
              <a:t>反実仮想：不在ならどうなるか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B9EFF"/>
                </a:solidFill>
                <a:latin typeface="Meiryo"/>
              </a:rPr>
              <a:t>−34%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1089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3AAC6"/>
                </a:solidFill>
                <a:latin typeface="Meiryo"/>
              </a:rPr>
              <a:t>チーム創出脅威 / 30分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514600"/>
            <a:ext cx="2377440" cy="164592"/>
          </a:xfrm>
          <a:prstGeom prst="roundRect">
            <a:avLst>
              <a:gd name="adj" fmla="val 50000"/>
            </a:avLst>
          </a:prstGeom>
          <a:solidFill>
            <a:srgbClr val="213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91840" y="2514600"/>
            <a:ext cx="2377440" cy="164592"/>
          </a:xfrm>
          <a:prstGeom prst="roundRect">
            <a:avLst>
              <a:gd name="adj" fmla="val 50000"/>
            </a:avLst>
          </a:prstGeom>
          <a:solidFill>
            <a:srgbClr val="3B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331720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3AAC6"/>
                </a:solidFill>
                <a:latin typeface="Meiryo"/>
              </a:rPr>
              <a:t>在籍時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2971800"/>
            <a:ext cx="2377440" cy="164592"/>
          </a:xfrm>
          <a:prstGeom prst="roundRect">
            <a:avLst>
              <a:gd name="adj" fmla="val 50000"/>
            </a:avLst>
          </a:prstGeom>
          <a:solidFill>
            <a:srgbClr val="213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91840" y="2971800"/>
            <a:ext cx="1569110" cy="164592"/>
          </a:xfrm>
          <a:prstGeom prst="roundRect">
            <a:avLst>
              <a:gd name="adj" fmla="val 50000"/>
            </a:avLst>
          </a:prstGeom>
          <a:solidFill>
            <a:srgbClr val="8F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2788920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3AAC6"/>
                </a:solidFill>
                <a:latin typeface="Meiryo"/>
              </a:rPr>
              <a:t>不在（仮想）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828800"/>
            <a:ext cx="5212080" cy="1783080"/>
          </a:xfrm>
          <a:prstGeom prst="roundRect">
            <a:avLst>
              <a:gd name="adj" fmla="val 6000"/>
            </a:avLst>
          </a:prstGeom>
          <a:solidFill>
            <a:srgbClr val="1A2B41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01168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eiryo"/>
              </a:rPr>
              <a:t>因果クレジット配分（あるゴール）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2468880"/>
            <a:ext cx="1772107" cy="256032"/>
          </a:xfrm>
          <a:prstGeom prst="rect">
            <a:avLst/>
          </a:prstGeom>
          <a:solidFill>
            <a:srgbClr val="3B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47227" y="2468880"/>
            <a:ext cx="1259128" cy="256032"/>
          </a:xfrm>
          <a:prstGeom prst="rect">
            <a:avLst/>
          </a:prstGeom>
          <a:solidFill>
            <a:srgbClr val="2BD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706356" y="2468880"/>
            <a:ext cx="886053" cy="256032"/>
          </a:xfrm>
          <a:prstGeom prst="rect">
            <a:avLst/>
          </a:prstGeom>
          <a:solidFill>
            <a:srgbClr val="8F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592409" y="2468880"/>
            <a:ext cx="746150" cy="256032"/>
          </a:xfrm>
          <a:prstGeom prst="rect">
            <a:avLst/>
          </a:prstGeom>
          <a:solidFill>
            <a:srgbClr val="647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83464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E8F0FA"/>
                </a:solidFill>
                <a:latin typeface="Meiryo"/>
              </a:rPr>
              <a:t>Tanaka 38% ・ A 27% ・ B 19% ・ C 16%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20040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3B9EFF"/>
                </a:solidFill>
                <a:latin typeface="Meiryo"/>
              </a:rPr>
              <a:t>↳ Tanaka はこのシーンでタッチ0。走りに38%を配分。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931920"/>
            <a:ext cx="5212080" cy="1783080"/>
          </a:xfrm>
          <a:prstGeom prst="roundRect">
            <a:avLst>
              <a:gd name="adj" fmla="val 6000"/>
            </a:avLst>
          </a:prstGeom>
          <a:solidFill>
            <a:srgbClr val="1A2B41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11480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eiryo"/>
              </a:rPr>
              <a:t>因果インフルエンス・ネットワーク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2148840" y="4526280"/>
            <a:ext cx="1280160" cy="365760"/>
          </a:xfrm>
          <a:prstGeom prst="bentConnector3">
            <a:avLst/>
          </a:prstGeom>
          <a:ln w="31750">
            <a:solidFill>
              <a:srgbClr val="3B9E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148840" y="4892040"/>
            <a:ext cx="1325880" cy="411480"/>
          </a:xfrm>
          <a:prstGeom prst="bentConnector3">
            <a:avLst/>
          </a:prstGeom>
          <a:ln w="19050">
            <a:solidFill>
              <a:srgbClr val="3B9E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80160" y="4526280"/>
            <a:ext cx="868680" cy="365760"/>
          </a:xfrm>
          <a:prstGeom prst="bentConnector3">
            <a:avLst/>
          </a:prstGeom>
          <a:ln w="15875">
            <a:solidFill>
              <a:srgbClr val="8FA0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280160" y="4892040"/>
            <a:ext cx="868680" cy="411480"/>
          </a:xfrm>
          <a:prstGeom prst="bentConnector3">
            <a:avLst/>
          </a:prstGeom>
          <a:ln w="12700">
            <a:solidFill>
              <a:srgbClr val="8FA0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874520" y="4617720"/>
            <a:ext cx="548640" cy="548640"/>
          </a:xfrm>
          <a:prstGeom prst="ellipse">
            <a:avLst/>
          </a:prstGeom>
          <a:solidFill>
            <a:srgbClr val="3B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74520" y="4754879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eiryo"/>
              </a:rPr>
              <a:t>MF</a:t>
            </a:r>
          </a:p>
        </p:txBody>
      </p:sp>
      <p:sp>
        <p:nvSpPr>
          <p:cNvPr id="31" name="Oval 30"/>
          <p:cNvSpPr/>
          <p:nvPr/>
        </p:nvSpPr>
        <p:spPr>
          <a:xfrm>
            <a:off x="3218688" y="4315968"/>
            <a:ext cx="420624" cy="420624"/>
          </a:xfrm>
          <a:prstGeom prst="ellipse">
            <a:avLst/>
          </a:prstGeom>
          <a:solidFill>
            <a:srgbClr val="21364F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18688" y="4407408"/>
            <a:ext cx="4206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E8F0FA"/>
                </a:solidFill>
                <a:latin typeface="Meiryo"/>
              </a:rPr>
              <a:t>FW</a:t>
            </a:r>
          </a:p>
        </p:txBody>
      </p:sp>
      <p:sp>
        <p:nvSpPr>
          <p:cNvPr id="33" name="Oval 32"/>
          <p:cNvSpPr/>
          <p:nvPr/>
        </p:nvSpPr>
        <p:spPr>
          <a:xfrm>
            <a:off x="3264408" y="5093207"/>
            <a:ext cx="420624" cy="420624"/>
          </a:xfrm>
          <a:prstGeom prst="ellipse">
            <a:avLst/>
          </a:prstGeom>
          <a:solidFill>
            <a:srgbClr val="21364F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64408" y="5184648"/>
            <a:ext cx="4206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E8F0FA"/>
                </a:solidFill>
                <a:latin typeface="Meiryo"/>
              </a:rPr>
              <a:t>WG</a:t>
            </a:r>
          </a:p>
        </p:txBody>
      </p:sp>
      <p:sp>
        <p:nvSpPr>
          <p:cNvPr id="35" name="Oval 34"/>
          <p:cNvSpPr/>
          <p:nvPr/>
        </p:nvSpPr>
        <p:spPr>
          <a:xfrm>
            <a:off x="1069848" y="4315968"/>
            <a:ext cx="420624" cy="420624"/>
          </a:xfrm>
          <a:prstGeom prst="ellipse">
            <a:avLst/>
          </a:prstGeom>
          <a:solidFill>
            <a:srgbClr val="21364F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9848" y="4407408"/>
            <a:ext cx="4206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E8F0FA"/>
                </a:solidFill>
                <a:latin typeface="Meiryo"/>
              </a:rPr>
              <a:t>FB</a:t>
            </a:r>
          </a:p>
        </p:txBody>
      </p:sp>
      <p:sp>
        <p:nvSpPr>
          <p:cNvPr id="37" name="Oval 36"/>
          <p:cNvSpPr/>
          <p:nvPr/>
        </p:nvSpPr>
        <p:spPr>
          <a:xfrm>
            <a:off x="1069848" y="5093207"/>
            <a:ext cx="420624" cy="420624"/>
          </a:xfrm>
          <a:prstGeom prst="ellipse">
            <a:avLst/>
          </a:prstGeom>
          <a:solidFill>
            <a:srgbClr val="21364F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9848" y="5184648"/>
            <a:ext cx="4206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E8F0FA"/>
                </a:solidFill>
                <a:latin typeface="Meiryo"/>
              </a:rPr>
              <a:t>CM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4187952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3AAC6"/>
                </a:solidFill>
                <a:latin typeface="Meiryo"/>
              </a:rPr>
              <a:t>太さ＝因果の強さ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3931920"/>
            <a:ext cx="5212080" cy="1783080"/>
          </a:xfrm>
          <a:prstGeom prst="roundRect">
            <a:avLst>
              <a:gd name="adj" fmla="val 6000"/>
            </a:avLst>
          </a:prstGeom>
          <a:solidFill>
            <a:srgbClr val="1A2B41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411480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eiryo"/>
              </a:rPr>
              <a:t>時間ラグ：因果の“方向”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12280" y="4953853"/>
            <a:ext cx="384048" cy="57058"/>
          </a:xfrm>
          <a:prstGeom prst="rect">
            <a:avLst/>
          </a:prstGeom>
          <a:solidFill>
            <a:srgbClr val="647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48272" y="5029199"/>
            <a:ext cx="5120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3AAC6"/>
                </a:solidFill>
                <a:latin typeface="Meiryo"/>
              </a:rPr>
              <a:t>-1.0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79208" y="4892040"/>
            <a:ext cx="384048" cy="118872"/>
          </a:xfrm>
          <a:prstGeom prst="rect">
            <a:avLst/>
          </a:prstGeom>
          <a:solidFill>
            <a:srgbClr val="647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0" y="5029199"/>
            <a:ext cx="5120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3AAC6"/>
                </a:solidFill>
                <a:latin typeface="Meiryo"/>
              </a:rPr>
              <a:t>-0.5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46136" y="4773168"/>
            <a:ext cx="384048" cy="237744"/>
          </a:xfrm>
          <a:prstGeom prst="rect">
            <a:avLst/>
          </a:prstGeom>
          <a:solidFill>
            <a:srgbClr val="647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82128" y="5029199"/>
            <a:ext cx="5120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3AAC6"/>
                </a:solidFill>
                <a:latin typeface="Meiryo"/>
              </a:rPr>
              <a:t>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13064" y="4535423"/>
            <a:ext cx="384048" cy="475488"/>
          </a:xfrm>
          <a:prstGeom prst="rect">
            <a:avLst/>
          </a:prstGeom>
          <a:solidFill>
            <a:srgbClr val="3B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49056" y="5029199"/>
            <a:ext cx="5120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3AAC6"/>
                </a:solidFill>
                <a:latin typeface="Meiryo"/>
              </a:rPr>
              <a:t>+0.5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79992" y="4697089"/>
            <a:ext cx="384048" cy="313822"/>
          </a:xfrm>
          <a:prstGeom prst="rect">
            <a:avLst/>
          </a:prstGeom>
          <a:solidFill>
            <a:srgbClr val="647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15984" y="5029199"/>
            <a:ext cx="5120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3AAC6"/>
                </a:solidFill>
                <a:latin typeface="Meiryo"/>
              </a:rPr>
              <a:t>+1.0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46920" y="4820716"/>
            <a:ext cx="384048" cy="190195"/>
          </a:xfrm>
          <a:prstGeom prst="rect">
            <a:avLst/>
          </a:prstGeom>
          <a:solidFill>
            <a:srgbClr val="647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82912" y="5029199"/>
            <a:ext cx="5120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3AAC6"/>
                </a:solidFill>
                <a:latin typeface="Meiryo"/>
              </a:rPr>
              <a:t>+1.5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213848" y="4906304"/>
            <a:ext cx="384048" cy="104607"/>
          </a:xfrm>
          <a:prstGeom prst="rect">
            <a:avLst/>
          </a:prstGeom>
          <a:solidFill>
            <a:srgbClr val="647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49840" y="5029199"/>
            <a:ext cx="51206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3AAC6"/>
                </a:solidFill>
                <a:latin typeface="Meiryo"/>
              </a:rPr>
              <a:t>+2.0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75120" y="537667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3B9EFF"/>
                </a:solidFill>
                <a:latin typeface="Meiryo"/>
              </a:rPr>
              <a:t>ピーク +0.5s ＝ 選手が先・味方の脅威が後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B9EFF"/>
                </a:solidFill>
                <a:latin typeface="Meiryo"/>
              </a:rPr>
              <a:t>「なぜ必要か」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Meiryo"/>
              </a:rPr>
              <a:t>経由点が抜けると、連鎖が断たれる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B9EFF"/>
                </a:solidFill>
                <a:latin typeface="Meiryo"/>
              </a:rPr>
              <a:t>連鎖あり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72768" y="2514600"/>
            <a:ext cx="877824" cy="0"/>
          </a:xfrm>
          <a:prstGeom prst="bentConnector3">
            <a:avLst/>
          </a:prstGeom>
          <a:ln w="28575">
            <a:solidFill>
              <a:srgbClr val="3B9E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35808" y="2514600"/>
            <a:ext cx="877823" cy="0"/>
          </a:xfrm>
          <a:prstGeom prst="bentConnector3">
            <a:avLst/>
          </a:prstGeom>
          <a:ln w="28575">
            <a:solidFill>
              <a:srgbClr val="3B9E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498848" y="2514600"/>
            <a:ext cx="877824" cy="0"/>
          </a:xfrm>
          <a:prstGeom prst="bentConnector3">
            <a:avLst/>
          </a:prstGeom>
          <a:ln w="28575">
            <a:solidFill>
              <a:srgbClr val="3B9E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961888" y="2514600"/>
            <a:ext cx="877824" cy="0"/>
          </a:xfrm>
          <a:prstGeom prst="bentConnector3">
            <a:avLst/>
          </a:prstGeom>
          <a:ln w="28575">
            <a:solidFill>
              <a:srgbClr val="3B9E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24127" y="2258568"/>
            <a:ext cx="512064" cy="512064"/>
          </a:xfrm>
          <a:prstGeom prst="ellipse">
            <a:avLst/>
          </a:prstGeom>
          <a:solidFill>
            <a:srgbClr val="21364F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7" y="2404872"/>
            <a:ext cx="512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E8F0FA"/>
                </a:solidFill>
                <a:latin typeface="Meiryo"/>
              </a:rPr>
              <a:t>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1693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3AAC6"/>
                </a:solidFill>
                <a:latin typeface="Meiryo"/>
              </a:rPr>
              <a:t>奪回</a:t>
            </a:r>
          </a:p>
        </p:txBody>
      </p:sp>
      <p:sp>
        <p:nvSpPr>
          <p:cNvPr id="13" name="Oval 12"/>
          <p:cNvSpPr/>
          <p:nvPr/>
        </p:nvSpPr>
        <p:spPr>
          <a:xfrm>
            <a:off x="2487168" y="2258568"/>
            <a:ext cx="512064" cy="512064"/>
          </a:xfrm>
          <a:prstGeom prst="ellipse">
            <a:avLst/>
          </a:prstGeom>
          <a:solidFill>
            <a:srgbClr val="21364F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87168" y="2404872"/>
            <a:ext cx="512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E8F0FA"/>
                </a:solidFill>
                <a:latin typeface="Meiryo"/>
              </a:rPr>
              <a:t>FB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91693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3AAC6"/>
                </a:solidFill>
                <a:latin typeface="Meiryo"/>
              </a:rPr>
              <a:t>配球</a:t>
            </a:r>
          </a:p>
        </p:txBody>
      </p:sp>
      <p:sp>
        <p:nvSpPr>
          <p:cNvPr id="16" name="Oval 15"/>
          <p:cNvSpPr/>
          <p:nvPr/>
        </p:nvSpPr>
        <p:spPr>
          <a:xfrm>
            <a:off x="3895344" y="2203704"/>
            <a:ext cx="621792" cy="621792"/>
          </a:xfrm>
          <a:prstGeom prst="ellipse">
            <a:avLst/>
          </a:prstGeom>
          <a:solidFill>
            <a:srgbClr val="3B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79" y="2395728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eiryo"/>
              </a:rPr>
              <a:t>Tanaka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59" y="291693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3AAC6"/>
                </a:solidFill>
                <a:latin typeface="Meiryo"/>
              </a:rPr>
              <a:t>オフボール牽引</a:t>
            </a:r>
          </a:p>
        </p:txBody>
      </p:sp>
      <p:sp>
        <p:nvSpPr>
          <p:cNvPr id="19" name="Oval 18"/>
          <p:cNvSpPr/>
          <p:nvPr/>
        </p:nvSpPr>
        <p:spPr>
          <a:xfrm>
            <a:off x="5413248" y="2258568"/>
            <a:ext cx="512064" cy="512064"/>
          </a:xfrm>
          <a:prstGeom prst="ellipse">
            <a:avLst/>
          </a:prstGeom>
          <a:solidFill>
            <a:srgbClr val="21364F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13248" y="2404872"/>
            <a:ext cx="512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E8F0FA"/>
                </a:solidFill>
                <a:latin typeface="Meiryo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91693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3AAC6"/>
                </a:solidFill>
                <a:latin typeface="Meiryo"/>
              </a:rPr>
              <a:t>スルーパス</a:t>
            </a:r>
          </a:p>
        </p:txBody>
      </p:sp>
      <p:sp>
        <p:nvSpPr>
          <p:cNvPr id="22" name="Oval 21"/>
          <p:cNvSpPr/>
          <p:nvPr/>
        </p:nvSpPr>
        <p:spPr>
          <a:xfrm>
            <a:off x="6876288" y="2258568"/>
            <a:ext cx="512064" cy="512064"/>
          </a:xfrm>
          <a:prstGeom prst="ellipse">
            <a:avLst/>
          </a:prstGeom>
          <a:solidFill>
            <a:srgbClr val="2BD4A8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2404872"/>
            <a:ext cx="512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04342C"/>
                </a:solidFill>
                <a:latin typeface="Meiryo"/>
              </a:rPr>
              <a:t>FW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91693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3AAC6"/>
                </a:solidFill>
                <a:latin typeface="Meiryo"/>
              </a:rPr>
              <a:t>シュート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2461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F0FA"/>
                </a:solidFill>
                <a:latin typeface="Meiryo"/>
              </a:rPr>
              <a:t>ゴール期待 0.34 → 得点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2960" y="3657600"/>
            <a:ext cx="6949440" cy="0"/>
          </a:xfrm>
          <a:prstGeom prst="bentConnector3">
            <a:avLst/>
          </a:prstGeom>
          <a:ln w="12700">
            <a:solidFill>
              <a:srgbClr val="2C4A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22960" y="38404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5C5C"/>
                </a:solidFill>
                <a:latin typeface="Meiryo"/>
              </a:rPr>
              <a:t>反実仮想：Tanaka を外す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572768" y="4526280"/>
            <a:ext cx="877824" cy="0"/>
          </a:xfrm>
          <a:prstGeom prst="bentConnector3">
            <a:avLst/>
          </a:prstGeom>
          <a:ln w="28575">
            <a:solidFill>
              <a:srgbClr val="3B9E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035808" y="4526280"/>
            <a:ext cx="877823" cy="0"/>
          </a:xfrm>
          <a:prstGeom prst="bentConnector3">
            <a:avLst/>
          </a:prstGeom>
          <a:ln w="28575">
            <a:solidFill>
              <a:srgbClr val="3B9E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498848" y="4526280"/>
            <a:ext cx="877824" cy="0"/>
          </a:xfrm>
          <a:prstGeom prst="bentConnector3">
            <a:avLst/>
          </a:prstGeom>
          <a:ln w="25400">
            <a:solidFill>
              <a:srgbClr val="FF5C5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961888" y="4526280"/>
            <a:ext cx="877824" cy="0"/>
          </a:xfrm>
          <a:prstGeom prst="bentConnector3">
            <a:avLst/>
          </a:prstGeom>
          <a:ln w="25400">
            <a:solidFill>
              <a:srgbClr val="FF5C5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024127" y="4270248"/>
            <a:ext cx="512064" cy="512064"/>
          </a:xfrm>
          <a:prstGeom prst="ellipse">
            <a:avLst/>
          </a:prstGeom>
          <a:solidFill>
            <a:srgbClr val="21364F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7" y="4416552"/>
            <a:ext cx="512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E8F0FA"/>
                </a:solidFill>
                <a:latin typeface="Meiryo"/>
              </a:rPr>
              <a:t>CM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9286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3AAC6"/>
                </a:solidFill>
                <a:latin typeface="Meiryo"/>
              </a:rPr>
              <a:t>奪回</a:t>
            </a:r>
          </a:p>
        </p:txBody>
      </p:sp>
      <p:sp>
        <p:nvSpPr>
          <p:cNvPr id="35" name="Oval 34"/>
          <p:cNvSpPr/>
          <p:nvPr/>
        </p:nvSpPr>
        <p:spPr>
          <a:xfrm>
            <a:off x="2487168" y="4270248"/>
            <a:ext cx="512064" cy="512064"/>
          </a:xfrm>
          <a:prstGeom prst="ellipse">
            <a:avLst/>
          </a:prstGeom>
          <a:solidFill>
            <a:srgbClr val="21364F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87168" y="4416552"/>
            <a:ext cx="512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E8F0FA"/>
                </a:solidFill>
                <a:latin typeface="Meiryo"/>
              </a:rPr>
              <a:t>FB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49286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3AAC6"/>
                </a:solidFill>
                <a:latin typeface="Meiryo"/>
              </a:rPr>
              <a:t>配球</a:t>
            </a:r>
          </a:p>
        </p:txBody>
      </p:sp>
      <p:sp>
        <p:nvSpPr>
          <p:cNvPr id="38" name="Oval 37"/>
          <p:cNvSpPr/>
          <p:nvPr/>
        </p:nvSpPr>
        <p:spPr>
          <a:xfrm>
            <a:off x="3931920" y="4251960"/>
            <a:ext cx="548640" cy="548640"/>
          </a:xfrm>
          <a:prstGeom prst="ellipse">
            <a:avLst/>
          </a:prstGeom>
          <a:solidFill>
            <a:srgbClr val="21364F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31920" y="440740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647E9B"/>
                </a:solidFill>
                <a:latin typeface="Meiryo"/>
              </a:rPr>
              <a:t>不在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59" y="49286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FF5C5C"/>
                </a:solidFill>
                <a:latin typeface="Meiryo"/>
              </a:rPr>
              <a:t>—</a:t>
            </a:r>
          </a:p>
        </p:txBody>
      </p:sp>
      <p:sp>
        <p:nvSpPr>
          <p:cNvPr id="41" name="Oval 40"/>
          <p:cNvSpPr/>
          <p:nvPr/>
        </p:nvSpPr>
        <p:spPr>
          <a:xfrm>
            <a:off x="5413248" y="4270248"/>
            <a:ext cx="512064" cy="512064"/>
          </a:xfrm>
          <a:prstGeom prst="ellipse">
            <a:avLst/>
          </a:prstGeom>
          <a:solidFill>
            <a:srgbClr val="21364F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13248" y="4416552"/>
            <a:ext cx="512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E8F0FA"/>
                </a:solidFill>
                <a:latin typeface="Meiryo"/>
              </a:rPr>
              <a:t>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49286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FF5C5C"/>
                </a:solidFill>
                <a:latin typeface="Meiryo"/>
              </a:rPr>
              <a:t>パス先消失</a:t>
            </a:r>
          </a:p>
        </p:txBody>
      </p:sp>
      <p:sp>
        <p:nvSpPr>
          <p:cNvPr id="44" name="Oval 43"/>
          <p:cNvSpPr/>
          <p:nvPr/>
        </p:nvSpPr>
        <p:spPr>
          <a:xfrm>
            <a:off x="6876288" y="4270248"/>
            <a:ext cx="512064" cy="512064"/>
          </a:xfrm>
          <a:prstGeom prst="ellipse">
            <a:avLst/>
          </a:prstGeom>
          <a:solidFill>
            <a:srgbClr val="21364F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76288" y="4416552"/>
            <a:ext cx="512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E8F0FA"/>
                </a:solidFill>
                <a:latin typeface="Meiryo"/>
              </a:rPr>
              <a:t>FW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492861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FF5C5C"/>
                </a:solidFill>
                <a:latin typeface="Meiryo"/>
              </a:rPr>
              <a:t>機会消失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257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F5C5C"/>
                </a:solidFill>
                <a:latin typeface="Meiryo"/>
              </a:rPr>
              <a:t>ゴール期待 0.06（−82%）→ 断絶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95360" y="2743200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16273B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95360" y="297180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C24B"/>
                </a:solidFill>
                <a:latin typeface="Meiryo"/>
              </a:rPr>
              <a:t>82%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0" y="3749039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93AAC6"/>
                </a:solidFill>
                <a:latin typeface="Meiryo"/>
              </a:rPr>
              <a:t>今季の得点関与で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93AAC6"/>
                </a:solidFill>
                <a:latin typeface="Meiryo"/>
              </a:rPr>
              <a:t>この選手を経由（媒介中心性）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3AAC6"/>
                </a:solidFill>
                <a:latin typeface="Meiryo"/>
              </a:rPr>
              <a:t>時系列で因果を追うからこそ、「経由点が抜けると後段が成立しない」を示せる。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B9EFF"/>
                </a:solidFill>
                <a:latin typeface="Meiryo"/>
              </a:rPr>
              <a:t>③ 反実仮想シミュレータ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Meiryo"/>
              </a:rPr>
              <a:t>“もし入れ替えたら”で編成・移籍を判断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4206240" cy="3108960"/>
          </a:xfrm>
          <a:prstGeom prst="roundRect">
            <a:avLst>
              <a:gd name="adj" fmla="val 4000"/>
            </a:avLst>
          </a:prstGeom>
          <a:solidFill>
            <a:srgbClr val="16273B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926080" y="1920240"/>
            <a:ext cx="0" cy="3108960"/>
          </a:xfrm>
          <a:prstGeom prst="bentConnector3">
            <a:avLst/>
          </a:prstGeom>
          <a:ln w="12700">
            <a:solidFill>
              <a:srgbClr val="2C4A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514600" y="3063239"/>
            <a:ext cx="822960" cy="822960"/>
          </a:xfrm>
          <a:prstGeom prst="ellipse">
            <a:avLst/>
          </a:prstGeom>
          <a:solidFill>
            <a:srgbClr val="16273B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5568" y="3355848"/>
            <a:ext cx="237744" cy="237744"/>
          </a:xfrm>
          <a:prstGeom prst="ellipse">
            <a:avLst/>
          </a:prstGeom>
          <a:solidFill>
            <a:srgbClr val="8F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4207" y="2350008"/>
            <a:ext cx="237744" cy="237744"/>
          </a:xfrm>
          <a:prstGeom prst="ellipse">
            <a:avLst/>
          </a:prstGeom>
          <a:solidFill>
            <a:srgbClr val="8F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64207" y="3035808"/>
            <a:ext cx="237744" cy="237744"/>
          </a:xfrm>
          <a:prstGeom prst="ellipse">
            <a:avLst/>
          </a:prstGeom>
          <a:solidFill>
            <a:srgbClr val="8F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64207" y="3675888"/>
            <a:ext cx="237744" cy="237744"/>
          </a:xfrm>
          <a:prstGeom prst="ellipse">
            <a:avLst/>
          </a:prstGeom>
          <a:solidFill>
            <a:srgbClr val="8F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64207" y="4361688"/>
            <a:ext cx="237744" cy="237744"/>
          </a:xfrm>
          <a:prstGeom prst="ellipse">
            <a:avLst/>
          </a:prstGeom>
          <a:solidFill>
            <a:srgbClr val="8F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24328" y="3127248"/>
            <a:ext cx="237744" cy="237744"/>
          </a:xfrm>
          <a:prstGeom prst="ellipse">
            <a:avLst/>
          </a:prstGeom>
          <a:solidFill>
            <a:srgbClr val="8F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24328" y="3858768"/>
            <a:ext cx="237744" cy="237744"/>
          </a:xfrm>
          <a:prstGeom prst="ellipse">
            <a:avLst/>
          </a:prstGeom>
          <a:solidFill>
            <a:srgbClr val="8F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21608" y="2532888"/>
            <a:ext cx="237744" cy="237744"/>
          </a:xfrm>
          <a:prstGeom prst="ellipse">
            <a:avLst/>
          </a:prstGeom>
          <a:solidFill>
            <a:srgbClr val="8F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21608" y="3355848"/>
            <a:ext cx="237744" cy="237744"/>
          </a:xfrm>
          <a:prstGeom prst="ellipse">
            <a:avLst/>
          </a:prstGeom>
          <a:solidFill>
            <a:srgbClr val="8F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721608" y="4178808"/>
            <a:ext cx="237744" cy="237744"/>
          </a:xfrm>
          <a:prstGeom prst="ellipse">
            <a:avLst/>
          </a:prstGeom>
          <a:solidFill>
            <a:srgbClr val="8F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560320" y="2331720"/>
            <a:ext cx="365760" cy="365760"/>
          </a:xfrm>
          <a:prstGeom prst="ellipse">
            <a:avLst/>
          </a:prstGeom>
          <a:solidFill>
            <a:srgbClr val="3B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0" y="2404872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eiryo"/>
              </a:rPr>
              <a:t>MT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93AAC6"/>
                </a:solidFill>
                <a:latin typeface="Meiryo"/>
              </a:rPr>
              <a:t>CM スロットに候補を充当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19202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eiryo"/>
              </a:rPr>
              <a:t>反実仮想の結果（チーム全体）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233172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3B9EFF"/>
                </a:solidFill>
                <a:latin typeface="Meiryo"/>
              </a:rPr>
              <a:t>1.78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0175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3AAC6"/>
                </a:solidFill>
                <a:latin typeface="Meiryo"/>
              </a:rPr>
              <a:t>チーム期待 xT / 30分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242316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1E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2505456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9AF0C4"/>
                </a:solidFill>
                <a:latin typeface="Meiryo"/>
              </a:rPr>
              <a:t>+25% ・ 獲得推奨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361188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8F0FA"/>
                </a:solidFill>
                <a:latin typeface="Meiryo"/>
              </a:rPr>
              <a:t>M. Tanaka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3639312"/>
            <a:ext cx="2743200" cy="182880"/>
          </a:xfrm>
          <a:prstGeom prst="roundRect">
            <a:avLst>
              <a:gd name="adj" fmla="val 50000"/>
            </a:avLst>
          </a:prstGeom>
          <a:solidFill>
            <a:srgbClr val="213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40880" y="3639312"/>
            <a:ext cx="2441448" cy="182880"/>
          </a:xfrm>
          <a:prstGeom prst="roundRect">
            <a:avLst>
              <a:gd name="adj" fmla="val 50000"/>
            </a:avLst>
          </a:prstGeom>
          <a:solidFill>
            <a:srgbClr val="3B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21240" y="359359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eiryo"/>
              </a:rPr>
              <a:t>87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359359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BD4A8"/>
                </a:solidFill>
                <a:latin typeface="Meiryo"/>
              </a:rPr>
              <a:t>推奨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4178808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8F0FA"/>
                </a:solidFill>
                <a:latin typeface="Meiryo"/>
              </a:rPr>
              <a:t>候補 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0880" y="4206240"/>
            <a:ext cx="2743200" cy="182880"/>
          </a:xfrm>
          <a:prstGeom prst="roundRect">
            <a:avLst>
              <a:gd name="adj" fmla="val 50000"/>
            </a:avLst>
          </a:prstGeom>
          <a:solidFill>
            <a:srgbClr val="213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040880" y="4206240"/>
            <a:ext cx="2139696" cy="182880"/>
          </a:xfrm>
          <a:prstGeom prst="roundRect">
            <a:avLst>
              <a:gd name="adj" fmla="val 50000"/>
            </a:avLst>
          </a:prstGeom>
          <a:solidFill>
            <a:srgbClr val="8F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21240" y="4160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eiryo"/>
              </a:rPr>
              <a:t>79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4745736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8F0FA"/>
                </a:solidFill>
                <a:latin typeface="Meiryo"/>
              </a:rPr>
              <a:t>候補 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40880" y="4773168"/>
            <a:ext cx="2743200" cy="182880"/>
          </a:xfrm>
          <a:prstGeom prst="roundRect">
            <a:avLst>
              <a:gd name="adj" fmla="val 50000"/>
            </a:avLst>
          </a:prstGeom>
          <a:solidFill>
            <a:srgbClr val="213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040880" y="4773168"/>
            <a:ext cx="1975104" cy="182880"/>
          </a:xfrm>
          <a:prstGeom prst="roundRect">
            <a:avLst>
              <a:gd name="adj" fmla="val 50000"/>
            </a:avLst>
          </a:prstGeom>
          <a:solidFill>
            <a:srgbClr val="8F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1240" y="47274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eiryo"/>
              </a:rPr>
              <a:t>72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5486400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3AAC6"/>
                </a:solidFill>
                <a:latin typeface="Meiryo"/>
              </a:rPr>
              <a:t>②の因果モデルを“入れ替え”に適用 → チーム全体の創出脅威を再計算。フィットとコストで判断。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B9EFF"/>
                </a:solidFill>
                <a:latin typeface="Meiryo"/>
              </a:rPr>
              <a:t>差別化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Meiryo"/>
              </a:rPr>
              <a:t>既存ツールとの違い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2743200" cy="713232"/>
          </a:xfrm>
          <a:prstGeom prst="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566160" y="1737360"/>
            <a:ext cx="4937760" cy="713232"/>
          </a:xfrm>
          <a:prstGeom prst="rect">
            <a:avLst/>
          </a:prstGeom>
          <a:solidFill>
            <a:srgbClr val="162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03920" y="1737360"/>
            <a:ext cx="3200400" cy="713232"/>
          </a:xfrm>
          <a:prstGeom prst="rect">
            <a:avLst/>
          </a:prstGeom>
          <a:solidFill>
            <a:srgbClr val="1636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24688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eiryo"/>
              </a:rPr>
              <a:t>観点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737360"/>
            <a:ext cx="4663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8F0FA"/>
                </a:solidFill>
                <a:latin typeface="Meiryo"/>
              </a:rPr>
              <a:t>既存（StatsBomb / Wyscout / SkillCorner）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737360"/>
            <a:ext cx="2926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B9EFF"/>
                </a:solidFill>
                <a:latin typeface="Meiryo"/>
              </a:rPr>
              <a:t>Pitch Log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450591"/>
            <a:ext cx="10881360" cy="0"/>
          </a:xfrm>
          <a:prstGeom prst="bentConnector3">
            <a:avLst/>
          </a:prstGeom>
          <a:ln w="9525">
            <a:solidFill>
              <a:srgbClr val="2C4A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503920" y="2450591"/>
            <a:ext cx="3200400" cy="713232"/>
          </a:xfrm>
          <a:prstGeom prst="rect">
            <a:avLst/>
          </a:prstGeom>
          <a:solidFill>
            <a:srgbClr val="11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450591"/>
            <a:ext cx="24688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3AAC6"/>
                </a:solidFill>
                <a:latin typeface="Meiryo"/>
              </a:rPr>
              <a:t>評価の根拠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450591"/>
            <a:ext cx="4663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3AAC6"/>
                </a:solidFill>
                <a:latin typeface="Meiryo"/>
              </a:rPr>
              <a:t>相関・記述（合計 xT / VAEP）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450591"/>
            <a:ext cx="2926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8F0FA"/>
                </a:solidFill>
                <a:latin typeface="Meiryo"/>
              </a:rPr>
              <a:t>因果（反実仮想・時間ラグ）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2960" y="3163824"/>
            <a:ext cx="10881360" cy="0"/>
          </a:xfrm>
          <a:prstGeom prst="bentConnector3">
            <a:avLst/>
          </a:prstGeom>
          <a:ln w="9525">
            <a:solidFill>
              <a:srgbClr val="2C4A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503920" y="3163824"/>
            <a:ext cx="3200400" cy="713232"/>
          </a:xfrm>
          <a:prstGeom prst="rect">
            <a:avLst/>
          </a:prstGeom>
          <a:solidFill>
            <a:srgbClr val="11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163824"/>
            <a:ext cx="24688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3AAC6"/>
                </a:solidFill>
                <a:latin typeface="Meiryo"/>
              </a:rPr>
              <a:t>なぜ効くか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163824"/>
            <a:ext cx="4663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3AAC6"/>
                </a:solidFill>
                <a:latin typeface="Meiryo"/>
              </a:rPr>
              <a:t>示せない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163824"/>
            <a:ext cx="2926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8F0FA"/>
                </a:solidFill>
                <a:latin typeface="Meiryo"/>
              </a:rPr>
              <a:t>因果クレジットで分解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2960" y="3877056"/>
            <a:ext cx="10881360" cy="0"/>
          </a:xfrm>
          <a:prstGeom prst="bentConnector3">
            <a:avLst/>
          </a:prstGeom>
          <a:ln w="9525">
            <a:solidFill>
              <a:srgbClr val="2C4A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503920" y="3877056"/>
            <a:ext cx="3200400" cy="713232"/>
          </a:xfrm>
          <a:prstGeom prst="rect">
            <a:avLst/>
          </a:prstGeom>
          <a:solidFill>
            <a:srgbClr val="11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877056"/>
            <a:ext cx="24688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3AAC6"/>
                </a:solidFill>
                <a:latin typeface="Meiryo"/>
              </a:rPr>
              <a:t>抜けたらどうなるか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3877056"/>
            <a:ext cx="4663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3AAC6"/>
                </a:solidFill>
                <a:latin typeface="Meiryo"/>
              </a:rPr>
              <a:t>示せない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877056"/>
            <a:ext cx="2926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8F0FA"/>
                </a:solidFill>
                <a:latin typeface="Meiryo"/>
              </a:rPr>
              <a:t>連鎖断絶＋媒介中心性で定量化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2960" y="4590288"/>
            <a:ext cx="10881360" cy="0"/>
          </a:xfrm>
          <a:prstGeom prst="bentConnector3">
            <a:avLst/>
          </a:prstGeom>
          <a:ln w="9525">
            <a:solidFill>
              <a:srgbClr val="2C4A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8503920" y="4590288"/>
            <a:ext cx="3200400" cy="713232"/>
          </a:xfrm>
          <a:prstGeom prst="rect">
            <a:avLst/>
          </a:prstGeom>
          <a:solidFill>
            <a:srgbClr val="11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590288"/>
            <a:ext cx="24688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3AAC6"/>
                </a:solidFill>
                <a:latin typeface="Meiryo"/>
              </a:rPr>
              <a:t>オフボールの価値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4590288"/>
            <a:ext cx="4663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3AAC6"/>
                </a:solidFill>
                <a:latin typeface="Meiryo"/>
              </a:rPr>
              <a:t>ほぼ未評価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590288"/>
            <a:ext cx="2926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8F0FA"/>
                </a:solidFill>
                <a:latin typeface="Meiryo"/>
              </a:rPr>
              <a:t>タッチ0でも貢献を配分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22960" y="5303520"/>
            <a:ext cx="10881360" cy="0"/>
          </a:xfrm>
          <a:prstGeom prst="bentConnector3">
            <a:avLst/>
          </a:prstGeom>
          <a:ln w="9525">
            <a:solidFill>
              <a:srgbClr val="2C4A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8503920" y="5303520"/>
            <a:ext cx="3200400" cy="713232"/>
          </a:xfrm>
          <a:prstGeom prst="rect">
            <a:avLst/>
          </a:prstGeom>
          <a:solidFill>
            <a:srgbClr val="11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303520"/>
            <a:ext cx="24688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3AAC6"/>
                </a:solidFill>
                <a:latin typeface="Meiryo"/>
              </a:rPr>
              <a:t>意思決定支援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39" y="5303520"/>
            <a:ext cx="4663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3AAC6"/>
                </a:solidFill>
                <a:latin typeface="Meiryo"/>
              </a:rPr>
              <a:t>ランキング・類似検索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5303520"/>
            <a:ext cx="2926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8F0FA"/>
                </a:solidFill>
                <a:latin typeface="Meiryo"/>
              </a:rPr>
              <a:t>反実仮想シミュレータで編成判断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22960" y="6016752"/>
            <a:ext cx="10881360" cy="0"/>
          </a:xfrm>
          <a:prstGeom prst="bentConnector3">
            <a:avLst/>
          </a:prstGeom>
          <a:ln w="9525">
            <a:solidFill>
              <a:srgbClr val="2C4A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B9EFF"/>
                </a:solidFill>
                <a:latin typeface="Meiryo"/>
              </a:rPr>
              <a:t>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eiryo"/>
              </a:rPr>
              <a:t>因果が、査定と編成を変える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34640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1A2B41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15468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eiryo"/>
              </a:rPr>
              <a:t>査定の根拠が明確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3AAC6"/>
                </a:solidFill>
                <a:latin typeface="Meiryo"/>
              </a:rPr>
              <a:t>“居なければ−34%”で年俸・契約を説明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2834640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1A2B41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315468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eiryo"/>
              </a:rPr>
              <a:t>編成を最適化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3749039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3AAC6"/>
                </a:solidFill>
                <a:latin typeface="Meiryo"/>
              </a:rPr>
              <a:t>因果フィットで穴とハマりを可視化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834640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1A2B41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315468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eiryo"/>
              </a:rPr>
              <a:t>移籍リスクを低減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749039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3AAC6"/>
                </a:solidFill>
                <a:latin typeface="Meiryo"/>
              </a:rPr>
              <a:t>獲得前に反実仮想で効果を検証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029200"/>
            <a:ext cx="10515600" cy="822960"/>
          </a:xfrm>
          <a:prstGeom prst="roundRect">
            <a:avLst>
              <a:gd name="adj" fmla="val 8000"/>
            </a:avLst>
          </a:prstGeom>
          <a:solidFill>
            <a:srgbClr val="16273B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257800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E8F0FA"/>
                </a:solidFill>
                <a:latin typeface="Meiryo"/>
              </a:rPr>
              <a:t>実証データ：PFF FC（2022 W杯・64試合）／ SoccerNet（映像付き）など公開データで PoC 可能。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