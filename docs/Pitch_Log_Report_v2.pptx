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提案 ｜ 選手の貢献を“因果”で評価する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選手の「なぜ必要か」を、因果で言える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“効いた量（相関）”ではなく、“なぜ効くか（因果）”を1枚のレポートで示す。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4864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PitchLog  |  MAZDA 新規事業開発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931920" cy="233172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2331720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① なぜ必要かを言える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214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−34%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7977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この選手が不在なら、チーム創出脅威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27248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・ 得点期待 0.34 → 0.06（連鎖が断絶）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・ 得点関与の 82% を経由（媒介中心性）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3931920" cy="233172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554480"/>
            <a:ext cx="54864" cy="2331720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75564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② 因果関係である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157984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動き(t) → +0.5秒で味方の脅威↑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77977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時系列で“原因 → 結果”の方向を特定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3127248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・ 同時に起きた“相関”ではない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・ 不在を仮想して効果を検証（反実仮想）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既存ツール＝相関の絵（合計 xT・VAEP・レーダー）。 PitchLog＝因果の根拠を、納品レポート1枚に。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アウトプット ｜ 選手評価レポート（攻撃編・サンプル）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不在だと、得点への連鎖が途切れる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M. Tanaka ・ セントラルMF ・ 総合 87 ・ 推定 €12.5M ・ 判定：獲得推奨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4864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PitchLog  |  MAZDA 新規事業開発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在籍：連鎖が通り、得点へ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52728" y="2057400"/>
            <a:ext cx="1380744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44368" y="2057400"/>
            <a:ext cx="1344168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72583" y="2057400"/>
            <a:ext cx="1344169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27648" y="2057400"/>
            <a:ext cx="1380744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41832" y="1901952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奪回</a:t>
            </a:r>
          </a:p>
        </p:txBody>
      </p:sp>
      <p:sp>
        <p:nvSpPr>
          <p:cNvPr id="15" name="Oval 14"/>
          <p:cNvSpPr/>
          <p:nvPr/>
        </p:nvSpPr>
        <p:spPr>
          <a:xfrm>
            <a:off x="2633472" y="1901952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FB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配球</a:t>
            </a:r>
          </a:p>
        </p:txBody>
      </p:sp>
      <p:sp>
        <p:nvSpPr>
          <p:cNvPr id="18" name="Oval 17"/>
          <p:cNvSpPr/>
          <p:nvPr/>
        </p:nvSpPr>
        <p:spPr>
          <a:xfrm>
            <a:off x="4288536" y="1865376"/>
            <a:ext cx="384048" cy="384048"/>
          </a:xfrm>
          <a:prstGeom prst="ellipse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1956816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ＭＳ Ｐゴシック"/>
                <a:ea typeface="ＭＳ Ｐゴシック"/>
                <a:cs typeface="ＭＳ Ｐゴシック"/>
              </a:rPr>
              <a:t>田中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オフボール牽引</a:t>
            </a:r>
          </a:p>
        </p:txBody>
      </p:sp>
      <p:sp>
        <p:nvSpPr>
          <p:cNvPr id="21" name="Oval 20"/>
          <p:cNvSpPr/>
          <p:nvPr/>
        </p:nvSpPr>
        <p:spPr>
          <a:xfrm>
            <a:off x="6016752" y="1901952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スルーパス</a:t>
            </a:r>
          </a:p>
        </p:txBody>
      </p:sp>
      <p:sp>
        <p:nvSpPr>
          <p:cNvPr id="24" name="Oval 23"/>
          <p:cNvSpPr/>
          <p:nvPr/>
        </p:nvSpPr>
        <p:spPr>
          <a:xfrm>
            <a:off x="7708392" y="1901952"/>
            <a:ext cx="310896" cy="310896"/>
          </a:xfrm>
          <a:prstGeom prst="ellipse">
            <a:avLst/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FW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シュート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432304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→ 得点期待 0.34（得点）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2761488"/>
            <a:ext cx="8046720" cy="0"/>
          </a:xfrm>
          <a:prstGeom prst="bentConnector3">
            <a:avLst/>
          </a:prstGeom>
          <a:ln w="12700">
            <a:solidFill>
              <a:srgbClr val="D7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285292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不在（反実仮想）：経由点が消え、連鎖が断絶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52728" y="3456432"/>
            <a:ext cx="1380744" cy="0"/>
          </a:xfrm>
          <a:prstGeom prst="bentConnector3">
            <a:avLst/>
          </a:prstGeom>
          <a:ln w="25400">
            <a:solidFill>
              <a:srgbClr val="5A66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44368" y="3456432"/>
            <a:ext cx="1344168" cy="0"/>
          </a:xfrm>
          <a:prstGeom prst="bentConnector3">
            <a:avLst/>
          </a:prstGeom>
          <a:ln w="25400">
            <a:solidFill>
              <a:srgbClr val="5A66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72583" y="3456432"/>
            <a:ext cx="1344169" cy="0"/>
          </a:xfrm>
          <a:prstGeom prst="bentConnector3">
            <a:avLst/>
          </a:prstGeom>
          <a:ln w="25400">
            <a:solidFill>
              <a:srgbClr val="C044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27648" y="3456432"/>
            <a:ext cx="1380744" cy="0"/>
          </a:xfrm>
          <a:prstGeom prst="bentConnector3">
            <a:avLst/>
          </a:prstGeom>
          <a:ln w="25400">
            <a:solidFill>
              <a:srgbClr val="C044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41832" y="3300984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奪回</a:t>
            </a:r>
          </a:p>
        </p:txBody>
      </p:sp>
      <p:sp>
        <p:nvSpPr>
          <p:cNvPr id="37" name="Oval 36"/>
          <p:cNvSpPr/>
          <p:nvPr/>
        </p:nvSpPr>
        <p:spPr>
          <a:xfrm>
            <a:off x="2633472" y="3300984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7752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FB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39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配球</a:t>
            </a:r>
          </a:p>
        </p:txBody>
      </p:sp>
      <p:sp>
        <p:nvSpPr>
          <p:cNvPr id="40" name="Oval 39"/>
          <p:cNvSpPr/>
          <p:nvPr/>
        </p:nvSpPr>
        <p:spPr>
          <a:xfrm>
            <a:off x="4288536" y="3264408"/>
            <a:ext cx="384048" cy="384048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3355848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79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不在</a:t>
            </a:r>
          </a:p>
        </p:txBody>
      </p:sp>
      <p:sp>
        <p:nvSpPr>
          <p:cNvPr id="43" name="Oval 42"/>
          <p:cNvSpPr/>
          <p:nvPr/>
        </p:nvSpPr>
        <p:spPr>
          <a:xfrm>
            <a:off x="6016752" y="3300984"/>
            <a:ext cx="310896" cy="310896"/>
          </a:xfrm>
          <a:prstGeom prst="ellipse">
            <a:avLst/>
          </a:prstGeom>
          <a:solidFill>
            <a:srgbClr val="F7ECEA"/>
          </a:solidFill>
          <a:ln w="12700">
            <a:solidFill>
              <a:srgbClr val="C04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パス先消失</a:t>
            </a:r>
          </a:p>
        </p:txBody>
      </p:sp>
      <p:sp>
        <p:nvSpPr>
          <p:cNvPr id="46" name="Oval 45"/>
          <p:cNvSpPr/>
          <p:nvPr/>
        </p:nvSpPr>
        <p:spPr>
          <a:xfrm>
            <a:off x="7708392" y="3300984"/>
            <a:ext cx="310896" cy="310896"/>
          </a:xfrm>
          <a:prstGeom prst="ellipse">
            <a:avLst/>
          </a:prstGeom>
          <a:solidFill>
            <a:srgbClr val="F7ECEA"/>
          </a:solidFill>
          <a:ln w="12700">
            <a:solidFill>
              <a:srgbClr val="C04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62671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FW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59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機会消失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822191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→ 得点期待 0.06（−82%・断絶）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206240"/>
            <a:ext cx="8046720" cy="64008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4206240"/>
            <a:ext cx="54864" cy="640080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297679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結論：獲得推奨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553712"/>
            <a:ext cx="7680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不在ならチーム創出脅威 −34% ／ 得点関与の 82% を経由する代替困難な“因果ハブ”。査定 €12.5M は妥当。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アウトプット ｜ 選手評価レポート（守備編・サンプル）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不在だと、守備ブロックが空く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S. Yamamoto ・ センターバック ・ 総合 84 ・ 推定 €9.0M ・ 判定：残留必須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4864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PitchLog  |  MAZDA 新規事業開発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在籍：カバーが効き、相手の前進を遮断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52728" y="2057400"/>
            <a:ext cx="1380744" cy="0"/>
          </a:xfrm>
          <a:prstGeom prst="bentConnector3">
            <a:avLst/>
          </a:prstGeom>
          <a:ln w="25400">
            <a:solidFill>
              <a:srgbClr val="5A66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44368" y="2057400"/>
            <a:ext cx="1344168" cy="0"/>
          </a:xfrm>
          <a:prstGeom prst="bentConnector3">
            <a:avLst/>
          </a:prstGeom>
          <a:ln w="25400">
            <a:solidFill>
              <a:srgbClr val="5A66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72583" y="2057400"/>
            <a:ext cx="1344169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27648" y="2057400"/>
            <a:ext cx="1380744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41832" y="1901952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相手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前進</a:t>
            </a:r>
          </a:p>
        </p:txBody>
      </p:sp>
      <p:sp>
        <p:nvSpPr>
          <p:cNvPr id="15" name="Oval 14"/>
          <p:cNvSpPr/>
          <p:nvPr/>
        </p:nvSpPr>
        <p:spPr>
          <a:xfrm>
            <a:off x="2633472" y="1901952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相手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39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楔パス</a:t>
            </a:r>
          </a:p>
        </p:txBody>
      </p:sp>
      <p:sp>
        <p:nvSpPr>
          <p:cNvPr id="18" name="Oval 17"/>
          <p:cNvSpPr/>
          <p:nvPr/>
        </p:nvSpPr>
        <p:spPr>
          <a:xfrm>
            <a:off x="4288536" y="1865376"/>
            <a:ext cx="384048" cy="384048"/>
          </a:xfrm>
          <a:prstGeom prst="ellipse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1956816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ＭＳ Ｐゴシック"/>
                <a:ea typeface="ＭＳ Ｐゴシック"/>
                <a:cs typeface="ＭＳ Ｐゴシック"/>
              </a:rPr>
              <a:t>山本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遮断</a:t>
            </a:r>
          </a:p>
        </p:txBody>
      </p:sp>
      <p:sp>
        <p:nvSpPr>
          <p:cNvPr id="21" name="Oval 20"/>
          <p:cNvSpPr/>
          <p:nvPr/>
        </p:nvSpPr>
        <p:spPr>
          <a:xfrm>
            <a:off x="6016752" y="1901952"/>
            <a:ext cx="310896" cy="310896"/>
          </a:xfrm>
          <a:prstGeom prst="ellipse">
            <a:avLst/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味方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回収</a:t>
            </a:r>
          </a:p>
        </p:txBody>
      </p:sp>
      <p:sp>
        <p:nvSpPr>
          <p:cNvPr id="24" name="Oval 23"/>
          <p:cNvSpPr/>
          <p:nvPr/>
        </p:nvSpPr>
        <p:spPr>
          <a:xfrm>
            <a:off x="7708392" y="1901952"/>
            <a:ext cx="310896" cy="310896"/>
          </a:xfrm>
          <a:prstGeom prst="ellipse">
            <a:avLst/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1956816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22951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脅威なし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432304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→ 被xT 0.05（抑制）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2761488"/>
            <a:ext cx="8046720" cy="0"/>
          </a:xfrm>
          <a:prstGeom prst="bentConnector3">
            <a:avLst/>
          </a:prstGeom>
          <a:ln w="12700">
            <a:solidFill>
              <a:srgbClr val="D7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285292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不在：ライン間が空き、中央を割られる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52728" y="3456432"/>
            <a:ext cx="1380744" cy="0"/>
          </a:xfrm>
          <a:prstGeom prst="bentConnector3">
            <a:avLst/>
          </a:prstGeom>
          <a:ln w="25400">
            <a:solidFill>
              <a:srgbClr val="5A66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44368" y="3456432"/>
            <a:ext cx="1344168" cy="0"/>
          </a:xfrm>
          <a:prstGeom prst="bentConnector3">
            <a:avLst/>
          </a:prstGeom>
          <a:ln w="25400">
            <a:solidFill>
              <a:srgbClr val="5A66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72583" y="3456432"/>
            <a:ext cx="1344169" cy="0"/>
          </a:xfrm>
          <a:prstGeom prst="bentConnector3">
            <a:avLst/>
          </a:prstGeom>
          <a:ln w="25400">
            <a:solidFill>
              <a:srgbClr val="C044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27648" y="3456432"/>
            <a:ext cx="1380744" cy="0"/>
          </a:xfrm>
          <a:prstGeom prst="bentConnector3">
            <a:avLst/>
          </a:prstGeom>
          <a:ln w="25400">
            <a:solidFill>
              <a:srgbClr val="C044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41832" y="3300984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相手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前進</a:t>
            </a:r>
          </a:p>
        </p:txBody>
      </p:sp>
      <p:sp>
        <p:nvSpPr>
          <p:cNvPr id="37" name="Oval 36"/>
          <p:cNvSpPr/>
          <p:nvPr/>
        </p:nvSpPr>
        <p:spPr>
          <a:xfrm>
            <a:off x="2633472" y="3300984"/>
            <a:ext cx="310896" cy="31089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7752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相手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39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楔パス</a:t>
            </a:r>
          </a:p>
        </p:txBody>
      </p:sp>
      <p:sp>
        <p:nvSpPr>
          <p:cNvPr id="40" name="Oval 39"/>
          <p:cNvSpPr/>
          <p:nvPr/>
        </p:nvSpPr>
        <p:spPr>
          <a:xfrm>
            <a:off x="4288536" y="3264408"/>
            <a:ext cx="384048" cy="384048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3355848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79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不在</a:t>
            </a:r>
          </a:p>
        </p:txBody>
      </p:sp>
      <p:sp>
        <p:nvSpPr>
          <p:cNvPr id="43" name="Oval 42"/>
          <p:cNvSpPr/>
          <p:nvPr/>
        </p:nvSpPr>
        <p:spPr>
          <a:xfrm>
            <a:off x="6016752" y="3300984"/>
            <a:ext cx="310896" cy="310896"/>
          </a:xfrm>
          <a:prstGeom prst="ellipse">
            <a:avLst/>
          </a:prstGeom>
          <a:solidFill>
            <a:srgbClr val="F7ECEA"/>
          </a:solidFill>
          <a:ln w="12700">
            <a:solidFill>
              <a:srgbClr val="C04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相手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中央侵入</a:t>
            </a:r>
          </a:p>
        </p:txBody>
      </p:sp>
      <p:sp>
        <p:nvSpPr>
          <p:cNvPr id="46" name="Oval 45"/>
          <p:cNvSpPr/>
          <p:nvPr/>
        </p:nvSpPr>
        <p:spPr>
          <a:xfrm>
            <a:off x="7708392" y="3300984"/>
            <a:ext cx="310896" cy="310896"/>
          </a:xfrm>
          <a:prstGeom prst="ellipse">
            <a:avLst/>
          </a:prstGeom>
          <a:solidFill>
            <a:srgbClr val="F7ECEA"/>
          </a:solidFill>
          <a:ln w="12700">
            <a:solidFill>
              <a:srgbClr val="C04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62671" y="3355848"/>
            <a:ext cx="402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相手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59" y="369417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被シュート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822191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443A"/>
                </a:solidFill>
                <a:latin typeface="ＭＳ Ｐゴシック"/>
                <a:ea typeface="ＭＳ Ｐゴシック"/>
                <a:cs typeface="ＭＳ Ｐゴシック"/>
              </a:rPr>
              <a:t>→ 被xT 0.31（+82%・失点機会）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206240"/>
            <a:ext cx="8046720" cy="64008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4206240"/>
            <a:ext cx="54864" cy="640080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297679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結論：残留必須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553712"/>
            <a:ext cx="7680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不在なら被創出脅威 +38% ／ 危険地帯への侵入を 72% で阻止する守備の要。放出は守備崩壊リスク大。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因果の担保 ｜ なぜ“相関”ではないと言えるか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なぜ“因果”と言い切れるのか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相関では出せない3つの証拠で裏づける。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4864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PitchLog  |  MAZDA 新規事業開発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587752" cy="64008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時間ラグ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48256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方向の特定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879994"/>
            <a:ext cx="155448" cy="46085"/>
          </a:xfrm>
          <a:prstGeom prst="rect">
            <a:avLst/>
          </a:prstGeom>
          <a:solidFill>
            <a:srgbClr val="C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9848" y="2830068"/>
            <a:ext cx="155448" cy="96012"/>
          </a:xfrm>
          <a:prstGeom prst="rect">
            <a:avLst/>
          </a:prstGeom>
          <a:solidFill>
            <a:srgbClr val="C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6736" y="2734056"/>
            <a:ext cx="155448" cy="192024"/>
          </a:xfrm>
          <a:prstGeom prst="rect">
            <a:avLst/>
          </a:prstGeom>
          <a:solidFill>
            <a:srgbClr val="C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63624" y="2542032"/>
            <a:ext cx="155448" cy="384048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0512" y="2672608"/>
            <a:ext cx="155448" cy="253471"/>
          </a:xfrm>
          <a:prstGeom prst="rect">
            <a:avLst/>
          </a:prstGeom>
          <a:solidFill>
            <a:srgbClr val="C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2772460"/>
            <a:ext cx="155448" cy="153619"/>
          </a:xfrm>
          <a:prstGeom prst="rect">
            <a:avLst/>
          </a:prstGeom>
          <a:solidFill>
            <a:srgbClr val="C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04288" y="2841589"/>
            <a:ext cx="155448" cy="84490"/>
          </a:xfrm>
          <a:prstGeom prst="rect">
            <a:avLst/>
          </a:prstGeom>
          <a:solidFill>
            <a:srgbClr val="C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310128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ピークが +0.5秒側＝選手が先・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結果が後。同時相関ではない。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8124" y="1554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78124" y="1554480"/>
            <a:ext cx="2587752" cy="64008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4156" y="175564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反実仮想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4156" y="2048256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介入で検証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444" y="2606039"/>
            <a:ext cx="1810512" cy="128016"/>
          </a:xfrm>
          <a:prstGeom prst="roundRect">
            <a:avLst>
              <a:gd name="adj" fmla="val 50000"/>
            </a:avLst>
          </a:prstGeom>
          <a:solidFill>
            <a:srgbClr val="E4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52444" y="2606039"/>
            <a:ext cx="1810512" cy="128016"/>
          </a:xfrm>
          <a:prstGeom prst="roundRect">
            <a:avLst>
              <a:gd name="adj" fmla="val 50000"/>
            </a:avLst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2444" y="24323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在籍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52444" y="2926080"/>
            <a:ext cx="1810512" cy="128016"/>
          </a:xfrm>
          <a:prstGeom prst="roundRect">
            <a:avLst>
              <a:gd name="adj" fmla="val 50000"/>
            </a:avLst>
          </a:prstGeom>
          <a:solidFill>
            <a:srgbClr val="E4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52444" y="2926080"/>
            <a:ext cx="1194937" cy="128016"/>
          </a:xfrm>
          <a:prstGeom prst="roundRect">
            <a:avLst>
              <a:gd name="adj" fmla="val 50000"/>
            </a:avLst>
          </a:prstGeom>
          <a:solidFill>
            <a:srgbClr val="B6C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2444" y="275234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不在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4156" y="3310128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不在を仮想して比較（−34%）。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観察ではなく“介入効果”。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07607" y="155448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1E5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07607" y="1554480"/>
            <a:ext cx="2587752" cy="64008"/>
          </a:xfrm>
          <a:prstGeom prst="rect">
            <a:avLst/>
          </a:prstGeom>
          <a:solidFill>
            <a:srgbClr val="1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755648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5C3F"/>
                </a:solidFill>
                <a:latin typeface="ＭＳ Ｐゴシック"/>
                <a:ea typeface="ＭＳ Ｐゴシック"/>
                <a:cs typeface="ＭＳ Ｐゴシック"/>
              </a:rPr>
              <a:t>連鎖の経路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048256"/>
            <a:ext cx="2130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A26"/>
                </a:solidFill>
                <a:latin typeface="ＭＳ Ｐゴシック"/>
                <a:ea typeface="ＭＳ Ｐゴシック"/>
                <a:cs typeface="ＭＳ Ｐゴシック"/>
              </a:rPr>
              <a:t>経路の必須性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74536" y="2788920"/>
            <a:ext cx="402336" cy="0"/>
          </a:xfrm>
          <a:prstGeom prst="bentConnector3">
            <a:avLst/>
          </a:prstGeom>
          <a:ln w="25400">
            <a:solidFill>
              <a:srgbClr val="1E5C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32903" y="2788920"/>
            <a:ext cx="402337" cy="0"/>
          </a:xfrm>
          <a:prstGeom prst="bentConnector3">
            <a:avLst/>
          </a:prstGeom>
          <a:ln w="25400">
            <a:solidFill>
              <a:srgbClr val="C044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355079" y="2679191"/>
            <a:ext cx="219456" cy="219456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76872" y="2660903"/>
            <a:ext cx="256032" cy="256032"/>
          </a:xfrm>
          <a:prstGeom prst="ellipse">
            <a:avLst/>
          </a:prstGeom>
          <a:solidFill>
            <a:srgbClr val="F6F7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35240" y="2679191"/>
            <a:ext cx="219456" cy="219456"/>
          </a:xfrm>
          <a:prstGeom prst="ellipse">
            <a:avLst/>
          </a:prstGeom>
          <a:solidFill>
            <a:srgbClr val="F7ECEA"/>
          </a:solidFill>
          <a:ln w="12700">
            <a:solidFill>
              <a:srgbClr val="C04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293522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AA5A1"/>
                </a:solidFill>
                <a:latin typeface="ＭＳ Ｐゴシック"/>
                <a:ea typeface="ＭＳ Ｐゴシック"/>
                <a:cs typeface="ＭＳ Ｐゴシック"/>
              </a:rPr>
              <a:t>不在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310128"/>
            <a:ext cx="21305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経由点を抜くと後段が成立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しない（媒介中心性 82%）。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A6663"/>
                </a:solidFill>
                <a:latin typeface="ＭＳ Ｐゴシック"/>
                <a:ea typeface="ＭＳ Ｐゴシック"/>
                <a:cs typeface="ＭＳ Ｐゴシック"/>
              </a:rPr>
              <a:t>いずれも相関では出せない。だから“なぜ必要か”を、根拠を持って言える。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