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提案 ｜ 選手の貢献を“因果”で評価する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F2A26"/>
                </a:solidFill>
                <a:latin typeface="游ゴシック"/>
              </a:rPr>
              <a:t>選手の「なぜ必要か」を、因果で言える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A6663"/>
                </a:solidFill>
                <a:latin typeface="游ゴシック"/>
              </a:rPr>
              <a:t>“効いた量（相関）”ではなく、“なぜ効くか（因果）”を1枚のレポートで示す。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486460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9AA5A1"/>
                </a:solidFill>
                <a:latin typeface="游ゴシック"/>
              </a:rPr>
              <a:t>PitchLog  |  MAZDA 新規事業開発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931920" cy="2331720"/>
          </a:xfrm>
          <a:prstGeom prst="roundRect">
            <a:avLst>
              <a:gd name="adj" fmla="val 4000"/>
            </a:avLst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" cy="2331720"/>
          </a:xfrm>
          <a:prstGeom prst="rect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5564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E5C3F"/>
                </a:solidFill>
                <a:latin typeface="游ゴシック"/>
              </a:rPr>
              <a:t>① なぜ必要かを言える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2140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0443A"/>
                </a:solidFill>
                <a:latin typeface="游ゴシック"/>
              </a:rPr>
              <a:t>−34%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7977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A6663"/>
                </a:solidFill>
                <a:latin typeface="游ゴシック"/>
              </a:rPr>
              <a:t>この選手が不在なら、チーム創出脅威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127248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A26"/>
                </a:solidFill>
                <a:latin typeface="游ゴシック"/>
              </a:rPr>
              <a:t>・ 得点期待 0.34 → 0.06（連鎖が断絶）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A26"/>
                </a:solidFill>
                <a:latin typeface="游ゴシック"/>
              </a:rPr>
              <a:t>・ 得点関与の 82% を経由（媒介中心性）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554480"/>
            <a:ext cx="3931920" cy="2331720"/>
          </a:xfrm>
          <a:prstGeom prst="roundRect">
            <a:avLst>
              <a:gd name="adj" fmla="val 4000"/>
            </a:avLst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554480"/>
            <a:ext cx="54864" cy="2331720"/>
          </a:xfrm>
          <a:prstGeom prst="rect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59" y="175564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E5C3F"/>
                </a:solidFill>
                <a:latin typeface="游ゴシック"/>
              </a:rPr>
              <a:t>② 因果関係である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2157984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26"/>
                </a:solidFill>
                <a:latin typeface="游ゴシック"/>
              </a:rPr>
              <a:t>動き(t) → +0.5秒で味方の脅威↑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59" y="277977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A6663"/>
                </a:solidFill>
                <a:latin typeface="游ゴシック"/>
              </a:rPr>
              <a:t>時系列で“原因 → 結果”の方向を特定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3127248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A26"/>
                </a:solidFill>
                <a:latin typeface="游ゴシック"/>
              </a:rPr>
              <a:t>・ 同時に起きた“相関”ではない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A26"/>
                </a:solidFill>
                <a:latin typeface="游ゴシック"/>
              </a:rPr>
              <a:t>・ 不在を仮想して効果を検証（反実仮想）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A6663"/>
                </a:solidFill>
                <a:latin typeface="游ゴシック"/>
              </a:rPr>
              <a:t>既存ツール＝相関の絵（合計 xT・VAEP・レーダー）。 PitchLog＝因果の根拠を、納品レポート1枚に。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アウトプット ｜ 選手評価レポート（攻撃編・サンプル）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F2A26"/>
                </a:solidFill>
                <a:latin typeface="游ゴシック"/>
              </a:rPr>
              <a:t>不在だと、得点への連鎖が途切れる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A6663"/>
                </a:solidFill>
                <a:latin typeface="游ゴシック"/>
              </a:rPr>
              <a:t>M. Tanaka ・ セントラルMF ・ 総合 87 ・ 推定 €12.5M ・ 判定：獲得推奨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486460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9AA5A1"/>
                </a:solidFill>
                <a:latin typeface="游ゴシック"/>
              </a:rPr>
              <a:t>PitchLog  |  MAZDA 新規事業開発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在籍：連鎖が通り、得点へ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52728" y="2057400"/>
            <a:ext cx="1380744" cy="0"/>
          </a:xfrm>
          <a:prstGeom prst="bentConnector3">
            <a:avLst/>
          </a:prstGeom>
          <a:ln w="25400">
            <a:solidFill>
              <a:srgbClr val="1E5C3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944368" y="2057400"/>
            <a:ext cx="1344168" cy="0"/>
          </a:xfrm>
          <a:prstGeom prst="bentConnector3">
            <a:avLst/>
          </a:prstGeom>
          <a:ln w="25400">
            <a:solidFill>
              <a:srgbClr val="1E5C3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672583" y="2057400"/>
            <a:ext cx="1344169" cy="0"/>
          </a:xfrm>
          <a:prstGeom prst="bentConnector3">
            <a:avLst/>
          </a:prstGeom>
          <a:ln w="25400">
            <a:solidFill>
              <a:srgbClr val="1E5C3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327648" y="2057400"/>
            <a:ext cx="1380744" cy="0"/>
          </a:xfrm>
          <a:prstGeom prst="bentConnector3">
            <a:avLst/>
          </a:prstGeom>
          <a:ln w="25400">
            <a:solidFill>
              <a:srgbClr val="1E5C3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41832" y="1901952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956816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奪回</a:t>
            </a:r>
          </a:p>
        </p:txBody>
      </p:sp>
      <p:sp>
        <p:nvSpPr>
          <p:cNvPr id="15" name="Oval 14"/>
          <p:cNvSpPr/>
          <p:nvPr/>
        </p:nvSpPr>
        <p:spPr>
          <a:xfrm>
            <a:off x="2633472" y="1901952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1956816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FB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39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配球</a:t>
            </a:r>
          </a:p>
        </p:txBody>
      </p:sp>
      <p:sp>
        <p:nvSpPr>
          <p:cNvPr id="18" name="Oval 17"/>
          <p:cNvSpPr/>
          <p:nvPr/>
        </p:nvSpPr>
        <p:spPr>
          <a:xfrm>
            <a:off x="4288536" y="1865376"/>
            <a:ext cx="384048" cy="384048"/>
          </a:xfrm>
          <a:prstGeom prst="ellipse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2816" y="1956816"/>
            <a:ext cx="4754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游ゴシック"/>
              </a:rPr>
              <a:t>田中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E5C3F"/>
                </a:solidFill>
                <a:latin typeface="游ゴシック"/>
              </a:rPr>
              <a:t>オフボール牽引</a:t>
            </a:r>
          </a:p>
        </p:txBody>
      </p:sp>
      <p:sp>
        <p:nvSpPr>
          <p:cNvPr id="21" name="Oval 20"/>
          <p:cNvSpPr/>
          <p:nvPr/>
        </p:nvSpPr>
        <p:spPr>
          <a:xfrm>
            <a:off x="6016752" y="1901952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71032" y="1956816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スルーパス</a:t>
            </a:r>
          </a:p>
        </p:txBody>
      </p:sp>
      <p:sp>
        <p:nvSpPr>
          <p:cNvPr id="24" name="Oval 23"/>
          <p:cNvSpPr/>
          <p:nvPr/>
        </p:nvSpPr>
        <p:spPr>
          <a:xfrm>
            <a:off x="7708392" y="1901952"/>
            <a:ext cx="310896" cy="310896"/>
          </a:xfrm>
          <a:prstGeom prst="ellipse">
            <a:avLst/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1" y="1956816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E5C3F"/>
                </a:solidFill>
                <a:latin typeface="游ゴシック"/>
              </a:rPr>
              <a:t>FW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59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E5C3F"/>
                </a:solidFill>
                <a:latin typeface="游ゴシック"/>
              </a:rPr>
              <a:t>シュート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432304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F2A26"/>
                </a:solidFill>
                <a:latin typeface="游ゴシック"/>
              </a:rPr>
              <a:t>→ 得点期待 0.34（得点）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2761488"/>
            <a:ext cx="8046720" cy="0"/>
          </a:xfrm>
          <a:prstGeom prst="bentConnector3">
            <a:avLst/>
          </a:prstGeom>
          <a:ln w="12700">
            <a:solidFill>
              <a:srgbClr val="D7E2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285292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443A"/>
                </a:solidFill>
                <a:latin typeface="游ゴシック"/>
              </a:rPr>
              <a:t>不在（反実仮想）：経由点が消え、連鎖が断絶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52728" y="3456432"/>
            <a:ext cx="1380744" cy="0"/>
          </a:xfrm>
          <a:prstGeom prst="bentConnector3">
            <a:avLst/>
          </a:prstGeom>
          <a:ln w="25400">
            <a:solidFill>
              <a:srgbClr val="5A66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944368" y="3456432"/>
            <a:ext cx="1344168" cy="0"/>
          </a:xfrm>
          <a:prstGeom prst="bentConnector3">
            <a:avLst/>
          </a:prstGeom>
          <a:ln w="25400">
            <a:solidFill>
              <a:srgbClr val="5A66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672583" y="3456432"/>
            <a:ext cx="1344169" cy="0"/>
          </a:xfrm>
          <a:prstGeom prst="bentConnector3">
            <a:avLst/>
          </a:prstGeom>
          <a:ln w="25400">
            <a:solidFill>
              <a:srgbClr val="C044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327648" y="3456432"/>
            <a:ext cx="1380744" cy="0"/>
          </a:xfrm>
          <a:prstGeom prst="bentConnector3">
            <a:avLst/>
          </a:prstGeom>
          <a:ln w="25400">
            <a:solidFill>
              <a:srgbClr val="C044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41832" y="3300984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3355848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奪回</a:t>
            </a:r>
          </a:p>
        </p:txBody>
      </p:sp>
      <p:sp>
        <p:nvSpPr>
          <p:cNvPr id="37" name="Oval 36"/>
          <p:cNvSpPr/>
          <p:nvPr/>
        </p:nvSpPr>
        <p:spPr>
          <a:xfrm>
            <a:off x="2633472" y="3300984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87752" y="3355848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FB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39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配球</a:t>
            </a:r>
          </a:p>
        </p:txBody>
      </p:sp>
      <p:sp>
        <p:nvSpPr>
          <p:cNvPr id="40" name="Oval 39"/>
          <p:cNvSpPr/>
          <p:nvPr/>
        </p:nvSpPr>
        <p:spPr>
          <a:xfrm>
            <a:off x="4288536" y="3264408"/>
            <a:ext cx="384048" cy="384048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42816" y="3355848"/>
            <a:ext cx="4754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9AA5A1"/>
                </a:solidFill>
                <a:latin typeface="游ゴシック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79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AA5A1"/>
                </a:solidFill>
                <a:latin typeface="游ゴシック"/>
              </a:rPr>
              <a:t>不在</a:t>
            </a:r>
          </a:p>
        </p:txBody>
      </p:sp>
      <p:sp>
        <p:nvSpPr>
          <p:cNvPr id="43" name="Oval 42"/>
          <p:cNvSpPr/>
          <p:nvPr/>
        </p:nvSpPr>
        <p:spPr>
          <a:xfrm>
            <a:off x="6016752" y="3300984"/>
            <a:ext cx="310896" cy="310896"/>
          </a:xfrm>
          <a:prstGeom prst="ellipse">
            <a:avLst/>
          </a:prstGeom>
          <a:solidFill>
            <a:srgbClr val="F7ECEA"/>
          </a:solidFill>
          <a:ln w="12700">
            <a:solidFill>
              <a:srgbClr val="C04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71032" y="3355848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C0443A"/>
                </a:solidFill>
                <a:latin typeface="游ゴシック"/>
              </a:rPr>
              <a:t>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2120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0443A"/>
                </a:solidFill>
                <a:latin typeface="游ゴシック"/>
              </a:rPr>
              <a:t>パス先消失</a:t>
            </a:r>
          </a:p>
        </p:txBody>
      </p:sp>
      <p:sp>
        <p:nvSpPr>
          <p:cNvPr id="46" name="Oval 45"/>
          <p:cNvSpPr/>
          <p:nvPr/>
        </p:nvSpPr>
        <p:spPr>
          <a:xfrm>
            <a:off x="7708392" y="3300984"/>
            <a:ext cx="310896" cy="310896"/>
          </a:xfrm>
          <a:prstGeom prst="ellipse">
            <a:avLst/>
          </a:prstGeom>
          <a:solidFill>
            <a:srgbClr val="F7ECEA"/>
          </a:solidFill>
          <a:ln w="12700">
            <a:solidFill>
              <a:srgbClr val="C04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62671" y="3355848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C0443A"/>
                </a:solidFill>
                <a:latin typeface="游ゴシック"/>
              </a:rPr>
              <a:t>FW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59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0443A"/>
                </a:solidFill>
                <a:latin typeface="游ゴシック"/>
              </a:rPr>
              <a:t>機会消失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822191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0443A"/>
                </a:solidFill>
                <a:latin typeface="游ゴシック"/>
              </a:rPr>
              <a:t>→ 得点期待 0.06（−82%・断絶）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206240"/>
            <a:ext cx="8046720" cy="640080"/>
          </a:xfrm>
          <a:prstGeom prst="roundRect">
            <a:avLst>
              <a:gd name="adj" fmla="val 4000"/>
            </a:avLst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4206240"/>
            <a:ext cx="54864" cy="640080"/>
          </a:xfrm>
          <a:prstGeom prst="rect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2976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5C3F"/>
                </a:solidFill>
                <a:latin typeface="游ゴシック"/>
              </a:rPr>
              <a:t>結論：獲得推奨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4553712"/>
            <a:ext cx="768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2A26"/>
                </a:solidFill>
                <a:latin typeface="游ゴシック"/>
              </a:rPr>
              <a:t>不在ならチーム創出脅威 −34% ／ 得点関与の 82% を経由する代替困難な“因果ハブ”。査定 €12.5M は妥当。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アウトプット ｜ 選手評価レポート（守備編・サンプル）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F2A26"/>
                </a:solidFill>
                <a:latin typeface="游ゴシック"/>
              </a:rPr>
              <a:t>不在だと、守備ブロックが空く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A6663"/>
                </a:solidFill>
                <a:latin typeface="游ゴシック"/>
              </a:rPr>
              <a:t>S. Yamamoto ・ センターバック ・ 総合 84 ・ 推定 €9.0M ・ 判定：残留必須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486460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9AA5A1"/>
                </a:solidFill>
                <a:latin typeface="游ゴシック"/>
              </a:rPr>
              <a:t>PitchLog  |  MAZDA 新規事業開発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在籍：カバーが効き、相手の前進を遮断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52728" y="2057400"/>
            <a:ext cx="1380744" cy="0"/>
          </a:xfrm>
          <a:prstGeom prst="bentConnector3">
            <a:avLst/>
          </a:prstGeom>
          <a:ln w="25400">
            <a:solidFill>
              <a:srgbClr val="5A66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944368" y="2057400"/>
            <a:ext cx="1344168" cy="0"/>
          </a:xfrm>
          <a:prstGeom prst="bentConnector3">
            <a:avLst/>
          </a:prstGeom>
          <a:ln w="25400">
            <a:solidFill>
              <a:srgbClr val="5A66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672583" y="2057400"/>
            <a:ext cx="1344169" cy="0"/>
          </a:xfrm>
          <a:prstGeom prst="bentConnector3">
            <a:avLst/>
          </a:prstGeom>
          <a:ln w="25400">
            <a:solidFill>
              <a:srgbClr val="1E5C3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327648" y="2057400"/>
            <a:ext cx="1380744" cy="0"/>
          </a:xfrm>
          <a:prstGeom prst="bentConnector3">
            <a:avLst/>
          </a:prstGeom>
          <a:ln w="25400">
            <a:solidFill>
              <a:srgbClr val="1E5C3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41832" y="1901952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956816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相手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前進</a:t>
            </a:r>
          </a:p>
        </p:txBody>
      </p:sp>
      <p:sp>
        <p:nvSpPr>
          <p:cNvPr id="15" name="Oval 14"/>
          <p:cNvSpPr/>
          <p:nvPr/>
        </p:nvSpPr>
        <p:spPr>
          <a:xfrm>
            <a:off x="2633472" y="1901952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1956816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相手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39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楔パス</a:t>
            </a:r>
          </a:p>
        </p:txBody>
      </p:sp>
      <p:sp>
        <p:nvSpPr>
          <p:cNvPr id="18" name="Oval 17"/>
          <p:cNvSpPr/>
          <p:nvPr/>
        </p:nvSpPr>
        <p:spPr>
          <a:xfrm>
            <a:off x="4288536" y="1865376"/>
            <a:ext cx="384048" cy="384048"/>
          </a:xfrm>
          <a:prstGeom prst="ellipse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2816" y="1956816"/>
            <a:ext cx="4754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游ゴシック"/>
              </a:rPr>
              <a:t>山本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E5C3F"/>
                </a:solidFill>
                <a:latin typeface="游ゴシック"/>
              </a:rPr>
              <a:t>遮断</a:t>
            </a:r>
          </a:p>
        </p:txBody>
      </p:sp>
      <p:sp>
        <p:nvSpPr>
          <p:cNvPr id="21" name="Oval 20"/>
          <p:cNvSpPr/>
          <p:nvPr/>
        </p:nvSpPr>
        <p:spPr>
          <a:xfrm>
            <a:off x="6016752" y="1901952"/>
            <a:ext cx="310896" cy="310896"/>
          </a:xfrm>
          <a:prstGeom prst="ellipse">
            <a:avLst/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71032" y="1956816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E5C3F"/>
                </a:solidFill>
                <a:latin typeface="游ゴシック"/>
              </a:rPr>
              <a:t>味方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E5C3F"/>
                </a:solidFill>
                <a:latin typeface="游ゴシック"/>
              </a:rPr>
              <a:t>回収</a:t>
            </a:r>
          </a:p>
        </p:txBody>
      </p:sp>
      <p:sp>
        <p:nvSpPr>
          <p:cNvPr id="24" name="Oval 23"/>
          <p:cNvSpPr/>
          <p:nvPr/>
        </p:nvSpPr>
        <p:spPr>
          <a:xfrm>
            <a:off x="7708392" y="1901952"/>
            <a:ext cx="310896" cy="310896"/>
          </a:xfrm>
          <a:prstGeom prst="ellipse">
            <a:avLst/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1" y="1956816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E5C3F"/>
                </a:solidFill>
                <a:latin typeface="游ゴシック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59" y="22951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E5C3F"/>
                </a:solidFill>
                <a:latin typeface="游ゴシック"/>
              </a:rPr>
              <a:t>脅威なし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432304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F2A26"/>
                </a:solidFill>
                <a:latin typeface="游ゴシック"/>
              </a:rPr>
              <a:t>→ 被xT 0.05（抑制）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2761488"/>
            <a:ext cx="8046720" cy="0"/>
          </a:xfrm>
          <a:prstGeom prst="bentConnector3">
            <a:avLst/>
          </a:prstGeom>
          <a:ln w="12700">
            <a:solidFill>
              <a:srgbClr val="D7E2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285292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443A"/>
                </a:solidFill>
                <a:latin typeface="游ゴシック"/>
              </a:rPr>
              <a:t>不在：ライン間が空き、中央を割られる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52728" y="3456432"/>
            <a:ext cx="1380744" cy="0"/>
          </a:xfrm>
          <a:prstGeom prst="bentConnector3">
            <a:avLst/>
          </a:prstGeom>
          <a:ln w="25400">
            <a:solidFill>
              <a:srgbClr val="5A66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944368" y="3456432"/>
            <a:ext cx="1344168" cy="0"/>
          </a:xfrm>
          <a:prstGeom prst="bentConnector3">
            <a:avLst/>
          </a:prstGeom>
          <a:ln w="25400">
            <a:solidFill>
              <a:srgbClr val="5A66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672583" y="3456432"/>
            <a:ext cx="1344169" cy="0"/>
          </a:xfrm>
          <a:prstGeom prst="bentConnector3">
            <a:avLst/>
          </a:prstGeom>
          <a:ln w="25400">
            <a:solidFill>
              <a:srgbClr val="C044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327648" y="3456432"/>
            <a:ext cx="1380744" cy="0"/>
          </a:xfrm>
          <a:prstGeom prst="bentConnector3">
            <a:avLst/>
          </a:prstGeom>
          <a:ln w="25400">
            <a:solidFill>
              <a:srgbClr val="C044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41832" y="3300984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3355848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相手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前進</a:t>
            </a:r>
          </a:p>
        </p:txBody>
      </p:sp>
      <p:sp>
        <p:nvSpPr>
          <p:cNvPr id="37" name="Oval 36"/>
          <p:cNvSpPr/>
          <p:nvPr/>
        </p:nvSpPr>
        <p:spPr>
          <a:xfrm>
            <a:off x="2633472" y="3300984"/>
            <a:ext cx="310896" cy="31089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87752" y="3355848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F2A26"/>
                </a:solidFill>
                <a:latin typeface="游ゴシック"/>
              </a:rPr>
              <a:t>相手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39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A6663"/>
                </a:solidFill>
                <a:latin typeface="游ゴシック"/>
              </a:rPr>
              <a:t>楔パス</a:t>
            </a:r>
          </a:p>
        </p:txBody>
      </p:sp>
      <p:sp>
        <p:nvSpPr>
          <p:cNvPr id="40" name="Oval 39"/>
          <p:cNvSpPr/>
          <p:nvPr/>
        </p:nvSpPr>
        <p:spPr>
          <a:xfrm>
            <a:off x="4288536" y="3264408"/>
            <a:ext cx="384048" cy="384048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42816" y="3355848"/>
            <a:ext cx="4754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9AA5A1"/>
                </a:solidFill>
                <a:latin typeface="游ゴシック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79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AA5A1"/>
                </a:solidFill>
                <a:latin typeface="游ゴシック"/>
              </a:rPr>
              <a:t>不在</a:t>
            </a:r>
          </a:p>
        </p:txBody>
      </p:sp>
      <p:sp>
        <p:nvSpPr>
          <p:cNvPr id="43" name="Oval 42"/>
          <p:cNvSpPr/>
          <p:nvPr/>
        </p:nvSpPr>
        <p:spPr>
          <a:xfrm>
            <a:off x="6016752" y="3300984"/>
            <a:ext cx="310896" cy="310896"/>
          </a:xfrm>
          <a:prstGeom prst="ellipse">
            <a:avLst/>
          </a:prstGeom>
          <a:solidFill>
            <a:srgbClr val="F7ECEA"/>
          </a:solidFill>
          <a:ln w="12700">
            <a:solidFill>
              <a:srgbClr val="C04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71032" y="3355848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C0443A"/>
                </a:solidFill>
                <a:latin typeface="游ゴシック"/>
              </a:rPr>
              <a:t>相手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2120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0443A"/>
                </a:solidFill>
                <a:latin typeface="游ゴシック"/>
              </a:rPr>
              <a:t>中央侵入</a:t>
            </a:r>
          </a:p>
        </p:txBody>
      </p:sp>
      <p:sp>
        <p:nvSpPr>
          <p:cNvPr id="46" name="Oval 45"/>
          <p:cNvSpPr/>
          <p:nvPr/>
        </p:nvSpPr>
        <p:spPr>
          <a:xfrm>
            <a:off x="7708392" y="3300984"/>
            <a:ext cx="310896" cy="310896"/>
          </a:xfrm>
          <a:prstGeom prst="ellipse">
            <a:avLst/>
          </a:prstGeom>
          <a:solidFill>
            <a:srgbClr val="F7ECEA"/>
          </a:solidFill>
          <a:ln w="12700">
            <a:solidFill>
              <a:srgbClr val="C04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62671" y="3355848"/>
            <a:ext cx="4023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C0443A"/>
                </a:solidFill>
                <a:latin typeface="游ゴシック"/>
              </a:rPr>
              <a:t>相手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59" y="369417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0443A"/>
                </a:solidFill>
                <a:latin typeface="游ゴシック"/>
              </a:rPr>
              <a:t>被シュート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822191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0443A"/>
                </a:solidFill>
                <a:latin typeface="游ゴシック"/>
              </a:rPr>
              <a:t>→ 被xT 0.31（+82%・失点機会）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206240"/>
            <a:ext cx="8046720" cy="640080"/>
          </a:xfrm>
          <a:prstGeom prst="roundRect">
            <a:avLst>
              <a:gd name="adj" fmla="val 4000"/>
            </a:avLst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4206240"/>
            <a:ext cx="54864" cy="640080"/>
          </a:xfrm>
          <a:prstGeom prst="rect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2976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5C3F"/>
                </a:solidFill>
                <a:latin typeface="游ゴシック"/>
              </a:rPr>
              <a:t>結論：残留必須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4553712"/>
            <a:ext cx="768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2A26"/>
                </a:solidFill>
                <a:latin typeface="游ゴシック"/>
              </a:rPr>
              <a:t>不在なら被創出脅威 +38% ／ 危険地帯への侵入を 72% で阻止する守備の要。放出は守備崩壊リスク大。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因果の担保 ｜ なぜ“相関”ではないと言えるか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F2A26"/>
                </a:solidFill>
                <a:latin typeface="游ゴシック"/>
              </a:rPr>
              <a:t>なぜ“因果”と言い切れるのか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A6663"/>
                </a:solidFill>
                <a:latin typeface="游ゴシック"/>
              </a:rPr>
              <a:t>相関では出せない3つの証拠で裏づける。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486460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9AA5A1"/>
                </a:solidFill>
                <a:latin typeface="游ゴシック"/>
              </a:rPr>
              <a:t>PitchLog  |  MAZDA 新規事業開発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587752" cy="2286000"/>
          </a:xfrm>
          <a:prstGeom prst="roundRect">
            <a:avLst>
              <a:gd name="adj" fmla="val 4000"/>
            </a:avLst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2587752" cy="64008"/>
          </a:xfrm>
          <a:prstGeom prst="rect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55648"/>
            <a:ext cx="21305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時間ラグ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048256"/>
            <a:ext cx="2130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A26"/>
                </a:solidFill>
                <a:latin typeface="游ゴシック"/>
              </a:rPr>
              <a:t>方向の特定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2879994"/>
            <a:ext cx="155448" cy="46085"/>
          </a:xfrm>
          <a:prstGeom prst="rect">
            <a:avLst/>
          </a:prstGeom>
          <a:solidFill>
            <a:srgbClr val="C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9848" y="2830068"/>
            <a:ext cx="155448" cy="96012"/>
          </a:xfrm>
          <a:prstGeom prst="rect">
            <a:avLst/>
          </a:prstGeom>
          <a:solidFill>
            <a:srgbClr val="C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16736" y="2734056"/>
            <a:ext cx="155448" cy="192024"/>
          </a:xfrm>
          <a:prstGeom prst="rect">
            <a:avLst/>
          </a:prstGeom>
          <a:solidFill>
            <a:srgbClr val="C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63624" y="2542032"/>
            <a:ext cx="155448" cy="384048"/>
          </a:xfrm>
          <a:prstGeom prst="rect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10512" y="2672608"/>
            <a:ext cx="155448" cy="253471"/>
          </a:xfrm>
          <a:prstGeom prst="rect">
            <a:avLst/>
          </a:prstGeom>
          <a:solidFill>
            <a:srgbClr val="C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57400" y="2772460"/>
            <a:ext cx="155448" cy="153619"/>
          </a:xfrm>
          <a:prstGeom prst="rect">
            <a:avLst/>
          </a:prstGeom>
          <a:solidFill>
            <a:srgbClr val="C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04288" y="2841589"/>
            <a:ext cx="155448" cy="84490"/>
          </a:xfrm>
          <a:prstGeom prst="rect">
            <a:avLst/>
          </a:prstGeom>
          <a:solidFill>
            <a:srgbClr val="C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310128"/>
            <a:ext cx="21305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663"/>
                </a:solidFill>
                <a:latin typeface="游ゴシック"/>
              </a:rPr>
              <a:t>ピークが +0.5秒側＝選手が先・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663"/>
                </a:solidFill>
                <a:latin typeface="游ゴシック"/>
              </a:rPr>
              <a:t>結果が後。同時相関ではない。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78124" y="1554480"/>
            <a:ext cx="2587752" cy="2286000"/>
          </a:xfrm>
          <a:prstGeom prst="roundRect">
            <a:avLst>
              <a:gd name="adj" fmla="val 4000"/>
            </a:avLst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78124" y="1554480"/>
            <a:ext cx="2587752" cy="64008"/>
          </a:xfrm>
          <a:prstGeom prst="rect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4156" y="1755648"/>
            <a:ext cx="21305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反実仮想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4156" y="2048256"/>
            <a:ext cx="2130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A26"/>
                </a:solidFill>
                <a:latin typeface="游ゴシック"/>
              </a:rPr>
              <a:t>介入で検証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52444" y="2606039"/>
            <a:ext cx="1810512" cy="128016"/>
          </a:xfrm>
          <a:prstGeom prst="roundRect">
            <a:avLst>
              <a:gd name="adj" fmla="val 50000"/>
            </a:avLst>
          </a:prstGeom>
          <a:solidFill>
            <a:srgbClr val="E4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52444" y="2606039"/>
            <a:ext cx="1810512" cy="128016"/>
          </a:xfrm>
          <a:prstGeom prst="roundRect">
            <a:avLst>
              <a:gd name="adj" fmla="val 50000"/>
            </a:avLst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2444" y="2432304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663"/>
                </a:solidFill>
                <a:latin typeface="游ゴシック"/>
              </a:rPr>
              <a:t>在籍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52444" y="2926080"/>
            <a:ext cx="1810512" cy="128016"/>
          </a:xfrm>
          <a:prstGeom prst="roundRect">
            <a:avLst>
              <a:gd name="adj" fmla="val 50000"/>
            </a:avLst>
          </a:prstGeom>
          <a:solidFill>
            <a:srgbClr val="E4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552444" y="2926080"/>
            <a:ext cx="1194937" cy="128016"/>
          </a:xfrm>
          <a:prstGeom prst="roundRect">
            <a:avLst>
              <a:gd name="adj" fmla="val 50000"/>
            </a:avLst>
          </a:prstGeom>
          <a:solidFill>
            <a:srgbClr val="B6C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2444" y="2752344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663"/>
                </a:solidFill>
                <a:latin typeface="游ゴシック"/>
              </a:rPr>
              <a:t>不在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4156" y="3310128"/>
            <a:ext cx="21305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663"/>
                </a:solidFill>
                <a:latin typeface="游ゴシック"/>
              </a:rPr>
              <a:t>不在を仮想して比較（−34%）。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663"/>
                </a:solidFill>
                <a:latin typeface="游ゴシック"/>
              </a:rPr>
              <a:t>観察ではなく“介入効果”。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07607" y="1554480"/>
            <a:ext cx="2587752" cy="2286000"/>
          </a:xfrm>
          <a:prstGeom prst="roundRect">
            <a:avLst>
              <a:gd name="adj" fmla="val 4000"/>
            </a:avLst>
          </a:prstGeom>
          <a:solidFill>
            <a:srgbClr val="EAF3EE"/>
          </a:solidFill>
          <a:ln w="12700">
            <a:solidFill>
              <a:srgbClr val="1E5C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07607" y="1554480"/>
            <a:ext cx="2587752" cy="64008"/>
          </a:xfrm>
          <a:prstGeom prst="rect">
            <a:avLst/>
          </a:prstGeom>
          <a:solidFill>
            <a:srgbClr val="1E5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1755648"/>
            <a:ext cx="21305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5C3F"/>
                </a:solidFill>
                <a:latin typeface="游ゴシック"/>
              </a:rPr>
              <a:t>連鎖の経路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048256"/>
            <a:ext cx="2130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A26"/>
                </a:solidFill>
                <a:latin typeface="游ゴシック"/>
              </a:rPr>
              <a:t>経路の必須性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74536" y="2788920"/>
            <a:ext cx="402336" cy="0"/>
          </a:xfrm>
          <a:prstGeom prst="bentConnector3">
            <a:avLst/>
          </a:prstGeom>
          <a:ln w="25400">
            <a:solidFill>
              <a:srgbClr val="1E5C3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32903" y="2788920"/>
            <a:ext cx="402337" cy="0"/>
          </a:xfrm>
          <a:prstGeom prst="bentConnector3">
            <a:avLst/>
          </a:prstGeom>
          <a:ln w="25400">
            <a:solidFill>
              <a:srgbClr val="C044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355079" y="2679191"/>
            <a:ext cx="219456" cy="219456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76872" y="2660903"/>
            <a:ext cx="256032" cy="256032"/>
          </a:xfrm>
          <a:prstGeom prst="ellipse">
            <a:avLst/>
          </a:prstGeom>
          <a:solidFill>
            <a:srgbClr val="F6F7F6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35240" y="2679191"/>
            <a:ext cx="219456" cy="219456"/>
          </a:xfrm>
          <a:prstGeom prst="ellipse">
            <a:avLst/>
          </a:prstGeom>
          <a:solidFill>
            <a:srgbClr val="F7ECEA"/>
          </a:solidFill>
          <a:ln w="12700">
            <a:solidFill>
              <a:srgbClr val="C04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76288" y="2935224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9AA5A1"/>
                </a:solidFill>
                <a:latin typeface="游ゴシック"/>
              </a:rPr>
              <a:t>不在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310128"/>
            <a:ext cx="21305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663"/>
                </a:solidFill>
                <a:latin typeface="游ゴシック"/>
              </a:rPr>
              <a:t>経由点を抜くと後段が成立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663"/>
                </a:solidFill>
                <a:latin typeface="游ゴシック"/>
              </a:rPr>
              <a:t>しない（媒介中心性 82%）。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A6663"/>
                </a:solidFill>
                <a:latin typeface="游ゴシック"/>
              </a:rPr>
              <a:t>いずれも相関では出せない。だから“なぜ必要か”を、根拠を持って言える。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