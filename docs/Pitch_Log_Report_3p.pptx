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B9EFF"/>
                </a:solidFill>
                <a:latin typeface="Meiryo"/>
              </a:rPr>
              <a:t>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FFFFF"/>
                </a:solidFill>
                <a:latin typeface="Meiryo"/>
              </a:rPr>
              <a:t>選手の「なぜ必要か」を、因果で言える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3AAC6"/>
                </a:solidFill>
                <a:latin typeface="Meiryo"/>
              </a:rPr>
              <a:t>“効いた量（相関）”ではなく、“なぜ効くか（因果）”を1枚のレポートで示す。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5394960" cy="2743200"/>
          </a:xfrm>
          <a:prstGeom prst="roundRect">
            <a:avLst>
              <a:gd name="adj" fmla="val 5000"/>
            </a:avLst>
          </a:prstGeom>
          <a:solidFill>
            <a:srgbClr val="1A2B41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118872" cy="2743200"/>
          </a:xfrm>
          <a:prstGeom prst="rect">
            <a:avLst/>
          </a:prstGeom>
          <a:solidFill>
            <a:srgbClr val="3B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4144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B9EFF"/>
                </a:solidFill>
                <a:latin typeface="Meiryo"/>
              </a:rPr>
              <a:t>① なぜ必要かを言える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eiryo"/>
              </a:rPr>
              <a:t>−34%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2160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3AAC6"/>
                </a:solidFill>
                <a:latin typeface="Meiryo"/>
              </a:rPr>
              <a:t>この選手が不在なら、チーム創出脅威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87368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E8F0FA"/>
                </a:solidFill>
                <a:latin typeface="Meiryo"/>
              </a:rPr>
              <a:t>・ 得点期待 0.34 → 0.06（連鎖が断絶）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E8F0FA"/>
                </a:solidFill>
                <a:latin typeface="Meiryo"/>
              </a:rPr>
              <a:t>・ 今季の得点関与の 82% を経由（媒介中心性）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48840"/>
            <a:ext cx="5394960" cy="2743200"/>
          </a:xfrm>
          <a:prstGeom prst="roundRect">
            <a:avLst>
              <a:gd name="adj" fmla="val 5000"/>
            </a:avLst>
          </a:prstGeom>
          <a:solidFill>
            <a:srgbClr val="1A2B41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148840"/>
            <a:ext cx="118872" cy="2743200"/>
          </a:xfrm>
          <a:prstGeom prst="rect">
            <a:avLst/>
          </a:prstGeom>
          <a:solidFill>
            <a:srgbClr val="2BD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44144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BD4A8"/>
                </a:solidFill>
                <a:latin typeface="Meiryo"/>
              </a:rPr>
              <a:t>② 因果関係である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06324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Meiryo"/>
              </a:rPr>
              <a:t>動き(t) → +0.5秒で味方の脅威↑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72160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3AAC6"/>
                </a:solidFill>
                <a:latin typeface="Meiryo"/>
              </a:rPr>
              <a:t>時系列で“原因 → 結果”の方向を特定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087368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E8F0FA"/>
                </a:solidFill>
                <a:latin typeface="Meiryo"/>
              </a:rPr>
              <a:t>・ 同時に起きた“相関”ではない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E8F0FA"/>
                </a:solidFill>
                <a:latin typeface="Meiryo"/>
              </a:rPr>
              <a:t>・ 不在を仮想して効果を検証（反実仮想）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57800"/>
            <a:ext cx="11155680" cy="868680"/>
          </a:xfrm>
          <a:prstGeom prst="roundRect">
            <a:avLst>
              <a:gd name="adj" fmla="val 6000"/>
            </a:avLst>
          </a:prstGeom>
          <a:solidFill>
            <a:srgbClr val="16273B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486400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8F0FA"/>
                </a:solidFill>
                <a:latin typeface="Meiryo"/>
              </a:rPr>
              <a:t>既存ツール＝相関の絵（合計 xT・VAEP・レーダー）。 Pitch Log＝因果の根拠を、納品レポート1枚に。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B9EFF"/>
                </a:solidFill>
                <a:latin typeface="Meiryo"/>
              </a:rPr>
              <a:t>アウトプット：選手評価レポート（サンプル）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658368"/>
            <a:ext cx="11091672" cy="841248"/>
          </a:xfrm>
          <a:prstGeom prst="roundRect">
            <a:avLst>
              <a:gd name="adj" fmla="val 5000"/>
            </a:avLst>
          </a:prstGeom>
          <a:solidFill>
            <a:srgbClr val="16273B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58368"/>
            <a:ext cx="118872" cy="841248"/>
          </a:xfrm>
          <a:prstGeom prst="rect">
            <a:avLst/>
          </a:prstGeom>
          <a:solidFill>
            <a:srgbClr val="3B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768096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eiryo"/>
              </a:rPr>
              <a:t>M. Tanaka — 選手評価レポート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15214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3AAC6"/>
                </a:solidFill>
                <a:latin typeface="Meiryo"/>
              </a:rPr>
              <a:t>セントラル MF ・ 24歳 ・ FC Example ・ 推定市場価値 €12.5M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749808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3B9EFF"/>
                </a:solidFill>
                <a:latin typeface="Meiryo"/>
              </a:rPr>
              <a:t>総合 87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841248"/>
            <a:ext cx="1417320" cy="457200"/>
          </a:xfrm>
          <a:prstGeom prst="roundRect">
            <a:avLst>
              <a:gd name="adj" fmla="val 25000"/>
            </a:avLst>
          </a:prstGeom>
          <a:solidFill>
            <a:srgbClr val="1E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0" y="914400"/>
            <a:ext cx="1417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AF0C4"/>
                </a:solidFill>
                <a:latin typeface="Meiryo"/>
              </a:rPr>
              <a:t>獲得推奨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645920"/>
            <a:ext cx="3429000" cy="3611880"/>
          </a:xfrm>
          <a:prstGeom prst="roundRect">
            <a:avLst>
              <a:gd name="adj" fmla="val 5000"/>
            </a:avLst>
          </a:prstGeom>
          <a:solidFill>
            <a:srgbClr val="1A2B41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1051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eiryo"/>
              </a:rPr>
              <a:t>因果寄与プロファイル</a:t>
            </a:r>
          </a:p>
        </p:txBody>
      </p:sp>
      <p:sp>
        <p:nvSpPr>
          <p:cNvPr id="13" name="Freeform 12"/>
          <p:cNvSpPr/>
          <p:nvPr/>
        </p:nvSpPr>
        <p:spPr>
          <a:xfrm>
            <a:off x="1828800" y="27432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1"/>
                </a:lnTo>
                <a:lnTo>
                  <a:pt x="1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noFill/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828800" y="27432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828800" y="27432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828800" y="2743200"/>
            <a:ext cx="914400" cy="1828800"/>
          </a:xfrm>
          <a:custGeom>
            <a:avLst/>
            <a:gdLst/>
            <a:ahLst/>
            <a:cxnLst/>
            <a:rect l="l" t="t" r="r" b="b"/>
            <a:pathLst>
              <a:path w="1" h="2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2240280" y="2468880"/>
            <a:ext cx="0" cy="932688"/>
          </a:xfrm>
          <a:prstGeom prst="bentConnector3">
            <a:avLst/>
          </a:prstGeom>
          <a:ln w="9525">
            <a:solidFill>
              <a:srgbClr val="2C4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240280" y="2935224"/>
            <a:ext cx="807707" cy="466344"/>
          </a:xfrm>
          <a:prstGeom prst="bentConnector3">
            <a:avLst/>
          </a:prstGeom>
          <a:ln w="9525">
            <a:solidFill>
              <a:srgbClr val="2C4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240280" y="3401568"/>
            <a:ext cx="807707" cy="466344"/>
          </a:xfrm>
          <a:prstGeom prst="bentConnector3">
            <a:avLst/>
          </a:prstGeom>
          <a:ln w="9525">
            <a:solidFill>
              <a:srgbClr val="2C4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240280" y="3401568"/>
            <a:ext cx="0" cy="932688"/>
          </a:xfrm>
          <a:prstGeom prst="bentConnector3">
            <a:avLst/>
          </a:prstGeom>
          <a:ln w="9525">
            <a:solidFill>
              <a:srgbClr val="2C4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432572" y="3401568"/>
            <a:ext cx="807708" cy="466344"/>
          </a:xfrm>
          <a:prstGeom prst="bentConnector3">
            <a:avLst/>
          </a:prstGeom>
          <a:ln w="9525">
            <a:solidFill>
              <a:srgbClr val="2C4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1432572" y="2935224"/>
            <a:ext cx="807708" cy="466344"/>
          </a:xfrm>
          <a:prstGeom prst="bentConnector3">
            <a:avLst/>
          </a:prstGeom>
          <a:ln w="9525">
            <a:solidFill>
              <a:srgbClr val="2C4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reeform 22"/>
          <p:cNvSpPr/>
          <p:nvPr/>
        </p:nvSpPr>
        <p:spPr>
          <a:xfrm>
            <a:off x="1828800" y="2743200"/>
            <a:ext cx="914400" cy="1828800"/>
          </a:xfrm>
          <a:custGeom>
            <a:avLst/>
            <a:gdLst/>
            <a:ahLst/>
            <a:cxnLst/>
            <a:rect l="l" t="t" r="r" b="b"/>
            <a:pathLst>
              <a:path w="1" h="2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3B9EFF">
              <a:alpha val="28000"/>
            </a:srgbClr>
          </a:solidFill>
          <a:ln w="25400">
            <a:solidFill>
              <a:srgbClr val="3B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828800" y="27432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noFill/>
          <a:ln w="20320">
            <a:solidFill>
              <a:srgbClr val="8FA0B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08760" y="1969617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93AAC6"/>
                </a:solidFill>
                <a:latin typeface="Meiryo"/>
              </a:rPr>
              <a:t>攻撃因果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58780" y="25758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93AAC6"/>
                </a:solidFill>
                <a:latin typeface="Meiryo"/>
              </a:rPr>
              <a:t>前進因果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58780" y="4007815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3B9EFF"/>
                </a:solidFill>
                <a:latin typeface="Meiryo"/>
              </a:rPr>
              <a:t>連鎖ハブ性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61406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3B9EFF"/>
                </a:solidFill>
                <a:latin typeface="Meiryo"/>
              </a:rPr>
              <a:t>オフボール牽引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8739" y="4007815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3B9EFF"/>
                </a:solidFill>
                <a:latin typeface="Meiryo"/>
              </a:rPr>
              <a:t>代替不可性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739" y="2575864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93AAC6"/>
                </a:solidFill>
                <a:latin typeface="Meiryo"/>
              </a:rPr>
              <a:t>守備因果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99262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3AAC6"/>
                </a:solidFill>
                <a:latin typeface="Meiryo"/>
              </a:rPr>
              <a:t>■ 本選手    ┄ 同ポジ平均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60520" y="1645920"/>
            <a:ext cx="7479792" cy="1691640"/>
          </a:xfrm>
          <a:prstGeom prst="roundRect">
            <a:avLst>
              <a:gd name="adj" fmla="val 5000"/>
            </a:avLst>
          </a:prstGeom>
          <a:solidFill>
            <a:srgbClr val="1A2B41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18105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eiryo"/>
              </a:rPr>
              <a:t>なぜ必要か（代替不可性）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2212848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3B9EFF"/>
                </a:solidFill>
                <a:latin typeface="Meiryo"/>
              </a:rPr>
              <a:t>−34%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53128" y="283464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3AAC6"/>
                </a:solidFill>
                <a:latin typeface="Meiryo"/>
              </a:rPr>
              <a:t>不在時のチーム創出脅威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2304288"/>
            <a:ext cx="1737360" cy="146304"/>
          </a:xfrm>
          <a:prstGeom prst="roundRect">
            <a:avLst>
              <a:gd name="adj" fmla="val 50000"/>
            </a:avLst>
          </a:prstGeom>
          <a:solidFill>
            <a:srgbClr val="21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00800" y="2304288"/>
            <a:ext cx="1737360" cy="146304"/>
          </a:xfrm>
          <a:prstGeom prst="roundRect">
            <a:avLst>
              <a:gd name="adj" fmla="val 50000"/>
            </a:avLst>
          </a:prstGeom>
          <a:solidFill>
            <a:srgbClr val="3B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2121408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3AAC6"/>
                </a:solidFill>
                <a:latin typeface="Meiryo"/>
              </a:rPr>
              <a:t>在籍時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2724912"/>
            <a:ext cx="1737360" cy="146304"/>
          </a:xfrm>
          <a:prstGeom prst="roundRect">
            <a:avLst>
              <a:gd name="adj" fmla="val 50000"/>
            </a:avLst>
          </a:prstGeom>
          <a:solidFill>
            <a:srgbClr val="21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00800" y="2724912"/>
            <a:ext cx="1146657" cy="146304"/>
          </a:xfrm>
          <a:prstGeom prst="roundRect">
            <a:avLst>
              <a:gd name="adj" fmla="val 50000"/>
            </a:avLst>
          </a:prstGeom>
          <a:solidFill>
            <a:srgbClr val="8F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2542032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3AAC6"/>
                </a:solidFill>
                <a:latin typeface="Meiryo"/>
              </a:rPr>
              <a:t>不在（仮想）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412480" y="1965960"/>
            <a:ext cx="0" cy="1097280"/>
          </a:xfrm>
          <a:prstGeom prst="bentConnector3">
            <a:avLst/>
          </a:prstGeom>
          <a:ln w="12700">
            <a:solidFill>
              <a:srgbClr val="2C4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686800" y="21031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F0FA"/>
                </a:solidFill>
                <a:latin typeface="Meiryo"/>
              </a:rPr>
              <a:t>得点期待 0.34 → 0.06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248716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3AAC6"/>
                </a:solidFill>
                <a:latin typeface="Meiryo"/>
              </a:rPr>
              <a:t>経由点が抜けると連鎖が断絶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281635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C24B"/>
                </a:solidFill>
                <a:latin typeface="Meiryo"/>
              </a:rPr>
              <a:t>媒介中心性 82%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60520" y="3474720"/>
            <a:ext cx="7479792" cy="1783080"/>
          </a:xfrm>
          <a:prstGeom prst="roundRect">
            <a:avLst>
              <a:gd name="adj" fmla="val 5000"/>
            </a:avLst>
          </a:prstGeom>
          <a:solidFill>
            <a:srgbClr val="1A2B41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34840" y="36393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eiryo"/>
              </a:rPr>
              <a:t>因果である根拠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4840" y="4023359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BD4A8"/>
                </a:solidFill>
                <a:latin typeface="Meiryo"/>
              </a:rPr>
              <a:t>時間ラグ：方向の特定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80559" y="4822545"/>
            <a:ext cx="182880" cy="60350"/>
          </a:xfrm>
          <a:prstGeom prst="rect">
            <a:avLst/>
          </a:prstGeom>
          <a:solidFill>
            <a:srgbClr val="647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54879" y="4757166"/>
            <a:ext cx="182880" cy="125730"/>
          </a:xfrm>
          <a:prstGeom prst="rect">
            <a:avLst/>
          </a:prstGeom>
          <a:solidFill>
            <a:srgbClr val="647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199" y="4631436"/>
            <a:ext cx="182880" cy="251460"/>
          </a:xfrm>
          <a:prstGeom prst="rect">
            <a:avLst/>
          </a:prstGeom>
          <a:solidFill>
            <a:srgbClr val="647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303519" y="4379976"/>
            <a:ext cx="182880" cy="502920"/>
          </a:xfrm>
          <a:prstGeom prst="rect">
            <a:avLst/>
          </a:prstGeom>
          <a:solidFill>
            <a:srgbClr val="3B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577840" y="4550968"/>
            <a:ext cx="182880" cy="331927"/>
          </a:xfrm>
          <a:prstGeom prst="rect">
            <a:avLst/>
          </a:prstGeom>
          <a:solidFill>
            <a:srgbClr val="647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852159" y="4681728"/>
            <a:ext cx="182880" cy="201168"/>
          </a:xfrm>
          <a:prstGeom prst="rect">
            <a:avLst/>
          </a:prstGeom>
          <a:solidFill>
            <a:srgbClr val="647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26479" y="4772253"/>
            <a:ext cx="182880" cy="110642"/>
          </a:xfrm>
          <a:prstGeom prst="rect">
            <a:avLst/>
          </a:prstGeom>
          <a:solidFill>
            <a:srgbClr val="647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34840" y="489204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3AAC6"/>
                </a:solidFill>
                <a:latin typeface="Meiryo"/>
              </a:rPr>
              <a:t>ピーク +0.5s ＝ 選手が先・結果が後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412480" y="3794759"/>
            <a:ext cx="0" cy="1188721"/>
          </a:xfrm>
          <a:prstGeom prst="bentConnector3">
            <a:avLst/>
          </a:prstGeom>
          <a:ln w="12700">
            <a:solidFill>
              <a:srgbClr val="2C4A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686800" y="4023359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BD4A8"/>
                </a:solidFill>
                <a:latin typeface="Meiryo"/>
              </a:rPr>
              <a:t>因果クレジット配分（あるゴール）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86800" y="4343400"/>
            <a:ext cx="1007668" cy="219456"/>
          </a:xfrm>
          <a:prstGeom prst="rect">
            <a:avLst/>
          </a:prstGeom>
          <a:solidFill>
            <a:srgbClr val="3B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694468" y="4343400"/>
            <a:ext cx="715975" cy="219456"/>
          </a:xfrm>
          <a:prstGeom prst="rect">
            <a:avLst/>
          </a:prstGeom>
          <a:solidFill>
            <a:srgbClr val="2BD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410444" y="4343400"/>
            <a:ext cx="503834" cy="219456"/>
          </a:xfrm>
          <a:prstGeom prst="rect">
            <a:avLst/>
          </a:prstGeom>
          <a:solidFill>
            <a:srgbClr val="8F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914278" y="4343400"/>
            <a:ext cx="424281" cy="219456"/>
          </a:xfrm>
          <a:prstGeom prst="rect">
            <a:avLst/>
          </a:prstGeom>
          <a:solidFill>
            <a:srgbClr val="647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86800" y="468172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3AAC6"/>
                </a:solidFill>
                <a:latin typeface="Meiryo"/>
              </a:rPr>
              <a:t>Tanaka 38%（タッチ0のオフボール牽引）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48640" y="5394960"/>
            <a:ext cx="11091672" cy="914400"/>
          </a:xfrm>
          <a:prstGeom prst="roundRect">
            <a:avLst>
              <a:gd name="adj" fmla="val 5000"/>
            </a:avLst>
          </a:prstGeom>
          <a:solidFill>
            <a:srgbClr val="16273B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8640" y="5394960"/>
            <a:ext cx="118872" cy="914400"/>
          </a:xfrm>
          <a:prstGeom prst="rect">
            <a:avLst/>
          </a:prstGeom>
          <a:solidFill>
            <a:srgbClr val="2BD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8680" y="550468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eiryo"/>
              </a:rPr>
              <a:t>結論：契約更新／獲得を推奨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" y="589788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8F0FA"/>
                </a:solidFill>
                <a:latin typeface="Meiryo"/>
              </a:rPr>
              <a:t>代替困難な“因果ハブ”。不在ならチームの得点創出が大きく低下するため、査定 €12.5M は妥当。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B9EFF"/>
                </a:solidFill>
                <a:latin typeface="Meiryo"/>
              </a:rPr>
              <a:t>因果の担保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FFFFF"/>
                </a:solidFill>
                <a:latin typeface="Meiryo"/>
              </a:rPr>
              <a:t>なぜ“因果”と言い切れるのか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3AAC6"/>
                </a:solidFill>
                <a:latin typeface="Meiryo"/>
              </a:rPr>
              <a:t>相関では出せない3つの証拠で裏づける。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520440" cy="2788920"/>
          </a:xfrm>
          <a:prstGeom prst="roundRect">
            <a:avLst>
              <a:gd name="adj" fmla="val 5000"/>
            </a:avLst>
          </a:prstGeom>
          <a:solidFill>
            <a:srgbClr val="1A2B41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3520440" cy="91440"/>
          </a:xfrm>
          <a:prstGeom prst="rect">
            <a:avLst/>
          </a:prstGeom>
          <a:solidFill>
            <a:srgbClr val="2BD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42316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BD4A8"/>
                </a:solidFill>
                <a:latin typeface="Meiryo"/>
              </a:rPr>
              <a:t>時間ラグ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2752344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eiryo"/>
              </a:rPr>
              <a:t>方向の特定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3849075"/>
            <a:ext cx="201168" cy="66385"/>
          </a:xfrm>
          <a:prstGeom prst="rect">
            <a:avLst/>
          </a:prstGeom>
          <a:solidFill>
            <a:srgbClr val="647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07592" y="3777157"/>
            <a:ext cx="201168" cy="138303"/>
          </a:xfrm>
          <a:prstGeom prst="rect">
            <a:avLst/>
          </a:prstGeom>
          <a:solidFill>
            <a:srgbClr val="647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9344" y="3638854"/>
            <a:ext cx="201168" cy="276606"/>
          </a:xfrm>
          <a:prstGeom prst="rect">
            <a:avLst/>
          </a:prstGeom>
          <a:solidFill>
            <a:srgbClr val="647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11095" y="3362248"/>
            <a:ext cx="201168" cy="553212"/>
          </a:xfrm>
          <a:prstGeom prst="rect">
            <a:avLst/>
          </a:prstGeom>
          <a:solidFill>
            <a:srgbClr val="3B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2848" y="3550340"/>
            <a:ext cx="201168" cy="365119"/>
          </a:xfrm>
          <a:prstGeom prst="rect">
            <a:avLst/>
          </a:prstGeom>
          <a:solidFill>
            <a:srgbClr val="647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14600" y="3694176"/>
            <a:ext cx="201168" cy="221284"/>
          </a:xfrm>
          <a:prstGeom prst="rect">
            <a:avLst/>
          </a:prstGeom>
          <a:solidFill>
            <a:srgbClr val="647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16352" y="3793754"/>
            <a:ext cx="201168" cy="121706"/>
          </a:xfrm>
          <a:prstGeom prst="rect">
            <a:avLst/>
          </a:prstGeom>
          <a:solidFill>
            <a:srgbClr val="647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19" y="4114800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93AAC6"/>
                </a:solidFill>
                <a:latin typeface="Meiryo"/>
              </a:rPr>
              <a:t>ピークが +0.5秒側＝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93AAC6"/>
                </a:solidFill>
                <a:latin typeface="Meiryo"/>
              </a:rPr>
              <a:t>選手が先・結果が後。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93AAC6"/>
                </a:solidFill>
                <a:latin typeface="Meiryo"/>
              </a:rPr>
              <a:t>同時相関ではない。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2148840"/>
            <a:ext cx="3520440" cy="2788920"/>
          </a:xfrm>
          <a:prstGeom prst="roundRect">
            <a:avLst>
              <a:gd name="adj" fmla="val 5000"/>
            </a:avLst>
          </a:prstGeom>
          <a:solidFill>
            <a:srgbClr val="1A2B41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26280" y="2148840"/>
            <a:ext cx="3520440" cy="91440"/>
          </a:xfrm>
          <a:prstGeom prst="rect">
            <a:avLst/>
          </a:prstGeom>
          <a:solidFill>
            <a:srgbClr val="3B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242316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B9EFF"/>
                </a:solidFill>
                <a:latin typeface="Meiryo"/>
              </a:rPr>
              <a:t>反実仮想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752344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eiryo"/>
              </a:rPr>
              <a:t>介入で検証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3383280"/>
            <a:ext cx="2606040" cy="146304"/>
          </a:xfrm>
          <a:prstGeom prst="roundRect">
            <a:avLst>
              <a:gd name="adj" fmla="val 50000"/>
            </a:avLst>
          </a:prstGeom>
          <a:solidFill>
            <a:srgbClr val="21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892040" y="3383280"/>
            <a:ext cx="2606040" cy="146304"/>
          </a:xfrm>
          <a:prstGeom prst="roundRect">
            <a:avLst>
              <a:gd name="adj" fmla="val 50000"/>
            </a:avLst>
          </a:prstGeom>
          <a:solidFill>
            <a:srgbClr val="3B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3200400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3AAC6"/>
                </a:solidFill>
                <a:latin typeface="Meiryo"/>
              </a:rPr>
              <a:t>在籍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92040" y="3749039"/>
            <a:ext cx="2606040" cy="146304"/>
          </a:xfrm>
          <a:prstGeom prst="roundRect">
            <a:avLst>
              <a:gd name="adj" fmla="val 50000"/>
            </a:avLst>
          </a:prstGeom>
          <a:solidFill>
            <a:srgbClr val="213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92040" y="3749039"/>
            <a:ext cx="1719986" cy="146304"/>
          </a:xfrm>
          <a:prstGeom prst="roundRect">
            <a:avLst>
              <a:gd name="adj" fmla="val 50000"/>
            </a:avLst>
          </a:prstGeom>
          <a:solidFill>
            <a:srgbClr val="8F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3566160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3AAC6"/>
                </a:solidFill>
                <a:latin typeface="Meiryo"/>
              </a:rPr>
              <a:t>不在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114800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93AAC6"/>
                </a:solidFill>
                <a:latin typeface="Meiryo"/>
              </a:rPr>
              <a:t>不在を仮想して比較（−34%）。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93AAC6"/>
                </a:solidFill>
                <a:latin typeface="Meiryo"/>
              </a:rPr>
              <a:t>観察ではなく“介入効果”。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2148840"/>
            <a:ext cx="3520440" cy="2788920"/>
          </a:xfrm>
          <a:prstGeom prst="roundRect">
            <a:avLst>
              <a:gd name="adj" fmla="val 5000"/>
            </a:avLst>
          </a:prstGeom>
          <a:solidFill>
            <a:srgbClr val="1A2B41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0" y="2148840"/>
            <a:ext cx="3520440" cy="91440"/>
          </a:xfrm>
          <a:prstGeom prst="rect">
            <a:avLst/>
          </a:prstGeom>
          <a:solidFill>
            <a:srgbClr val="FFC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32519" y="242316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C24B"/>
                </a:solidFill>
                <a:latin typeface="Meiryo"/>
              </a:rPr>
              <a:t>連鎖の経路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19" y="2752344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eiryo"/>
              </a:rPr>
              <a:t>経路の必須性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034272" y="3566160"/>
            <a:ext cx="310895" cy="0"/>
          </a:xfrm>
          <a:prstGeom prst="bentConnector3">
            <a:avLst/>
          </a:prstGeom>
          <a:ln w="25400">
            <a:solidFill>
              <a:srgbClr val="3B9E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582912" y="3566160"/>
            <a:ext cx="310895" cy="0"/>
          </a:xfrm>
          <a:prstGeom prst="bentConnector3">
            <a:avLst/>
          </a:prstGeom>
          <a:ln w="25400">
            <a:solidFill>
              <a:srgbClr val="FF5C5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8796528" y="3447288"/>
            <a:ext cx="237744" cy="237744"/>
          </a:xfrm>
          <a:prstGeom prst="ellipse">
            <a:avLst/>
          </a:prstGeom>
          <a:solidFill>
            <a:srgbClr val="21364F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326880" y="3429000"/>
            <a:ext cx="274320" cy="274320"/>
          </a:xfrm>
          <a:prstGeom prst="ellipse">
            <a:avLst/>
          </a:prstGeom>
          <a:solidFill>
            <a:srgbClr val="21364F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893807" y="3447288"/>
            <a:ext cx="237744" cy="237744"/>
          </a:xfrm>
          <a:prstGeom prst="ellipse">
            <a:avLst/>
          </a:prstGeom>
          <a:solidFill>
            <a:srgbClr val="21364F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373075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47E9B"/>
                </a:solidFill>
                <a:latin typeface="Meiryo"/>
              </a:rPr>
              <a:t>不在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19" y="4114800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93AAC6"/>
                </a:solidFill>
                <a:latin typeface="Meiryo"/>
              </a:rPr>
              <a:t>経由点を抜くと後段が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93AAC6"/>
                </a:solidFill>
                <a:latin typeface="Meiryo"/>
              </a:rPr>
              <a:t>成立しない（媒介中心性82%）。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257800"/>
            <a:ext cx="11155680" cy="868680"/>
          </a:xfrm>
          <a:prstGeom prst="roundRect">
            <a:avLst>
              <a:gd name="adj" fmla="val 6000"/>
            </a:avLst>
          </a:prstGeom>
          <a:solidFill>
            <a:srgbClr val="16273B"/>
          </a:solidFill>
          <a:ln w="12700">
            <a:solidFill>
              <a:srgbClr val="2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" y="5486400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8F0FA"/>
                </a:solidFill>
                <a:latin typeface="Meiryo"/>
              </a:rPr>
              <a:t>いずれも相関では出せない。だから“なぜ必要か”を、根拠を持って言える。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