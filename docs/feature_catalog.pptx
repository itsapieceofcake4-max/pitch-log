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eiryo"/>
              </a:rPr>
              <a:t>Pitch Log — 評価基準カタログ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000" b="0">
                <a:solidFill>
                  <a:srgbClr val="5EC4FF"/>
                </a:solidFill>
                <a:latin typeface="Meiryo"/>
              </a:rPr>
              <a:t>xT 以外の GSA 説明変数候補（全10カテゴリ）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400" b="0">
                <a:solidFill>
                  <a:srgbClr val="7095B5"/>
                </a:solidFill>
                <a:latin typeface="Meiryo"/>
              </a:rPr>
              <a:t>凡例：★=GSA寄与度（多いほど強力） / 🟢簡単 🟡中 🔴大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0">
                <a:solidFill>
                  <a:srgbClr val="7095B5"/>
                </a:solidFill>
                <a:latin typeface="Meiryo"/>
              </a:rPr>
              <a:t>出典: docs/feature_catalog.md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① 動き・速度系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🟢 簡単で高ROI（22選手分で約100カラム）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Ball_vx, Ball_vy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ボール速度成分 (m/s)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Ball_speed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ボール速度 (m/s)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Ball_acceleration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ボール加速度 (m/s²)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Ball_direction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ボール進行方向 (角度)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{team}_P{n}_acceleration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各選手の加速度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{team}_P{n}_vx, vy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各選手の速度成分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{team}_P{n}_is_sprinting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スプリント判定 (&gt;5.5m/s)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{team}_P{n}_dist_traveled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累積走行距離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② 距離・位置関係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🟢〜🟡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{team}_P{n}_dist_goal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各選手からゴールまでの距離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{team}_P{n}_dist_nearest_opp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最近接相手選手との距離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{team}_P{n}_n_opp_within_3m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3m以内の相手数（プレッシャー）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{team}_P{n}_n_opp_within_5m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5m以内の相手選手数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Ball_dist_goal_home/away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ボール→各ゴール距離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Ball_carrier_id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現在のボール保持者ID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Ball_carrier_team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保持チーム（Home/Away/None）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Pressure_on_carrier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保持者への3m以内相手数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③ チーム形状・組織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🟡 戦術的崩れを捉える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Home/Away_centroid_X,_Y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チーム重心座標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Home/Away_width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横幅 (Ymax - Ymin)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Home/Away_depth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縦幅 (Xmax - Xmin)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Home/Away_compactness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選手間平均距離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Home/Away_hull_area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布陣カバー面積 (凸包)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Home/Away_last_def_line_X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最終DFラインのX座標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..._interline_dist_DF_MF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DF-MF間距離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..._interline_dist_MF_FW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MF-FW間距離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④ ゾーン拡張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Ball_Zone_5div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縦5分割 (1〜5)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Ball_Zone_lateral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横3分割 (left/center/right)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Ball_Grid20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5×4=20領域グリッド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Ball_in_penalty_area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ペナルティエリア内フラグ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Ball_in_box_18yard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18ヤードボックス内フラグ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Ball_in_half_space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ハーフスペース内フラグ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Ball_zone_transition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ゾーン変化フラグ (進入/退出)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Ball_attacking_third_dwell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アタッキングサード滞在累計秒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⑤ ボール所有・フェーズ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🟡〜🔴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Ball_possession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Home/Away/None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Possession_duration_sec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連続保持時間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Possession_team_phase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ビルドアップ/トランジ等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Defensive_phase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ブロック構築/プレッシング等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Is_open_play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オープンプレー中か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Is_set_piece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セットプレー中か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⑥ パス・前進系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🟡〜🔴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Pass_event_flag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パス発生フレーム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Pass_xT_gain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パスによるxT増加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Pass_distance_m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パス距離 (m)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Pass_forward_component_m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パスの前進成分 (m)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Pass_breaks_line_count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突破ライン数 (0〜3)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Ball_forward_velocity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ボール前進速度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⑦ 個人xT 変化系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🟢（22人×4列で約88カラム）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{team}_P{n}_Delta_xT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各選手のxT変化量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{team}_P{n}_Cumulative_xT_gain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各選手の累積xT獲得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{team}_P{n}_xT_smoothed_3f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3フレーム移動平均xT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{team}_P{n}_peak_xT_in_scene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シーン中の最大xT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{team}_P{n}_xT_acceleration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xT変化の加速度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{team}_xT_weighted_centroid_X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xT加重重心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🟡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⑧ 時間ラグ（GSA因果分析の本命）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🟢 因果方向を特定する核心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Ball_xT_lag1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1フレーム前 (0.1秒前)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Ball_xT_lag5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5フレーム前 (0.5秒前)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Ball_xT_lag10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10フレーム前 (1秒前)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Ball_xT_lag20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20フレーム前 (2秒前)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{team}_P{n}_xT_lag5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各選手xTの0.5秒前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{team}_P{n}_xT_lag10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各選手xTの1秒前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{team}_P{n}_speed_lag5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各選手速度の0.5秒前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⑨ dynamic_events.csv 連動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🔴 外部データ統合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Is_pass_moment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パス発生フレームフラグ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Is_shot_moment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シュート発生フレームフラグ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Is_engagement_moment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守備接触発生フラグ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Is_off_ball_run_active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オフボールラン進行中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Frame_xshot_start/end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xshot値 (時系列)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Cumulative_VAEP_attack/defend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累積VAEP（攻撃/守備）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Pressing_chain_active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プレッシングチェーン中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★★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🔴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⑩ 目的変数候補の追加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🟢〜🟡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078992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14630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カラム名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GSA価値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実装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Ball_xT_smoothed_5f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ノイズ除去版 Ball_xT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目的変数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Delta_Ball_xT_smoothed_3f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ノイズ除去版 ΔxT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目的変数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Ball_xT_max_in_5sec_window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5秒ウィンドウ最大xT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目的変数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Time_to_peak_xT_sec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xTピークまでの秒数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目的変数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Time_to_goal_sec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ゴールまでの残り秒数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目的変数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Is_attacking_third_entry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アタッキングサード進入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目的変数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Is_penalty_area_entry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ペナルティエリア進入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目的変数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🟢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📊 推奨実装ロードマップ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7095B5"/>
                </a:solidFill>
                <a:latin typeface="Meiryo"/>
              </a:rPr>
              <a:t>段階的に追加していく計画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15568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640080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Phase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追加列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EC4FF"/>
                          </a:solidFill>
                          <a:latin typeface="Meiryo"/>
                        </a:rPr>
                        <a:t>時間</a:t>
                      </a:r>
                    </a:p>
                  </a:txBody>
                  <a:tcPr anchor="ctr" marL="50800" marR="50800" marT="25400" marB="25400">
                    <a:solidFill>
                      <a:srgbClr val="0F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Phase 1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動き・距離・ラグ（全🟢）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+110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30分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Phase 2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チーム形状・ライン（🟡）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+50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1〜2h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Consolas"/>
                        </a:rPr>
                        <a:t>Phase 3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events統合（🔴）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BBF24"/>
                          </a:solidFill>
                          <a:latin typeface="Meiryo"/>
                        </a:rPr>
                        <a:t>+20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D4E8"/>
                          </a:solidFill>
                          <a:latin typeface="Meiryo"/>
                        </a:rPr>
                        <a:t>半日</a:t>
                      </a:r>
                    </a:p>
                  </a:txBody>
                  <a:tcPr anchor="ctr" marL="50800" marR="50800" marT="12700" marB="12700"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⚠️ 多重共線性の注意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600" b="0">
                <a:solidFill>
                  <a:srgbClr val="C0D4E8"/>
                </a:solidFill>
                <a:latin typeface="Meiryo"/>
              </a:rPr>
              <a:t>以下のペアは両方入れない（GSA投入時はどちらか片方）：</a:t>
            </a:r>
          </a:p>
          <a:p>
            <a:pPr algn="l"/>
            <a:r>
              <a:rPr sz="1600" b="0">
                <a:solidFill>
                  <a:srgbClr val="C0D4E8"/>
                </a:solidFill>
                <a:latin typeface="Meiryo"/>
              </a:rPr>
              <a:t/>
            </a:r>
          </a:p>
          <a:p>
            <a:pPr algn="l"/>
            <a:r>
              <a:rPr sz="1600" b="0">
                <a:solidFill>
                  <a:srgbClr val="C0D4E8"/>
                </a:solidFill>
                <a:latin typeface="Meiryo"/>
              </a:rPr>
              <a:t>・位置(X,Y) と 個人xT  … xTは位置から計算される</a:t>
            </a:r>
          </a:p>
          <a:p>
            <a:pPr algn="l"/>
            <a:r>
              <a:rPr sz="1600" b="0">
                <a:solidFill>
                  <a:srgbClr val="C0D4E8"/>
                </a:solidFill>
                <a:latin typeface="Meiryo"/>
              </a:rPr>
              <a:t>・個人xT と 個人GridID … GridIDも位置の関数</a:t>
            </a:r>
          </a:p>
          <a:p>
            <a:pPr algn="l"/>
            <a:r>
              <a:rPr sz="1600" b="0">
                <a:solidFill>
                  <a:srgbClr val="C0D4E8"/>
                </a:solidFill>
                <a:latin typeface="Meiryo"/>
              </a:rPr>
              <a:t>・MAX_xT と 個人xT全員 … MAXは個人xTの集計</a:t>
            </a:r>
          </a:p>
          <a:p>
            <a:pPr algn="l"/>
            <a:r>
              <a:rPr sz="1600" b="0">
                <a:solidFill>
                  <a:srgbClr val="C0D4E8"/>
                </a:solidFill>
                <a:latin typeface="Meiryo"/>
              </a:rPr>
              <a:t>・SUM_xT と 個人xT全員 … SUMは個人xTの集計</a:t>
            </a:r>
          </a:p>
          <a:p>
            <a:pPr algn="l"/>
            <a:r>
              <a:rPr sz="1600" b="0">
                <a:solidFill>
                  <a:srgbClr val="C0D4E8"/>
                </a:solidFill>
                <a:latin typeface="Meiryo"/>
              </a:rPr>
              <a:t>・Ball_speed と Ball_vx/vy … speedは成分から計算</a:t>
            </a:r>
          </a:p>
          <a:p>
            <a:pPr algn="l"/>
            <a:r>
              <a:rPr sz="1600" b="0">
                <a:solidFill>
                  <a:srgbClr val="C0D4E8"/>
                </a:solidFill>
                <a:latin typeface="Meiryo"/>
              </a:rPr>
              <a:t>・Pressure_on_carrier と n_opp_within_3m(carrier) … 同じ情報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