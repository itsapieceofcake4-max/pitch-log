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評価方法 ① ｜ 選手向けアンケート（N=50）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選手側に「評価されない痛み」が潜在しているか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0" y="48508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1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PitchLog  |  MAZDA 新規事業開発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目的：当事者である選手に、評価のペインが実在するかを一次判定する。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046720" cy="292608"/>
          </a:xfrm>
          <a:prstGeom prst="rect">
            <a:avLst/>
          </a:prstGeom>
          <a:solidFill>
            <a:srgbClr val="1F2A26"/>
          </a:solidFill>
        </p:spPr>
      </p:sp>
      <p:sp>
        <p:nvSpPr>
          <p:cNvPr id="7" name="Text 5"/>
          <p:cNvSpPr/>
          <p:nvPr/>
        </p:nvSpPr>
        <p:spPr>
          <a:xfrm>
            <a:off x="640080" y="1417320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設問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00200" y="1417320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何を測るか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49040" y="1417320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判定ライン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12280" y="141732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示すこと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709928"/>
            <a:ext cx="8046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09928"/>
            <a:ext cx="7955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Q1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属性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1709928"/>
            <a:ext cx="1965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競技レベル（プロ/学生/アマ/引退）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3749040" y="1709928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回答者の構成を把握。以降の設問はこれと掛け合わせて読む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812280" y="1709928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ペインが競技志向層にも及ぶか（後述）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48640" y="2441448"/>
            <a:ext cx="8046720" cy="731520"/>
          </a:xfrm>
          <a:prstGeom prst="rect">
            <a:avLst/>
          </a:prstGeom>
          <a:solidFill>
            <a:srgbClr val="EAF3EE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441448"/>
            <a:ext cx="45720" cy="731520"/>
          </a:xfrm>
          <a:prstGeom prst="rect">
            <a:avLst/>
          </a:prstGeom>
          <a:solidFill>
            <a:srgbClr val="1E5C3F"/>
          </a:solidFill>
        </p:spPr>
      </p:sp>
      <p:sp>
        <p:nvSpPr>
          <p:cNvPr id="18" name="Text 16"/>
          <p:cNvSpPr/>
          <p:nvPr/>
        </p:nvSpPr>
        <p:spPr>
          <a:xfrm>
            <a:off x="658368" y="2441448"/>
            <a:ext cx="7955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Q2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ペイン有無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2441448"/>
            <a:ext cx="1965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貢献が評価されないと感じた頻度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3749040" y="2441448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「何度もある＋時々あった」が </a:t>
            </a:r>
            <a:endParaRPr lang="en-US" sz="8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50%以上 → Go寄り ／ 30%未満 → No-Go寄り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6812280" y="2441448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ペインの実在率（最重要指標）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48640" y="3172968"/>
            <a:ext cx="8046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172968"/>
            <a:ext cx="7955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Q3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ペインの質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3172968"/>
            <a:ext cx="1965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困った場面の内訳（複数選択）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3749040" y="3172968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特定の場面に票が集中するほど、刺さる課題が明確。特に「②説明できなかった」に注目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6812280" y="3172968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どの困りごとが中心か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548640" y="3904488"/>
            <a:ext cx="8046720" cy="731520"/>
          </a:xfrm>
          <a:prstGeom prst="rect">
            <a:avLst/>
          </a:prstGeom>
          <a:solidFill>
            <a:srgbClr val="F6F7F6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904488"/>
            <a:ext cx="7955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Q4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需要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00200" y="3904488"/>
            <a:ext cx="1965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支払い意思（自腹/クラブ負担/無料）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3749040" y="3904488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「①＋②」が過半 → 需要シグナルあり。①自腹の比率はB2Cの芽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6812280" y="3904488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誰の財布で成立しうるか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属性クロス（Q1×Q2）：</a:t>
            </a:r>
            <a:r>
              <a:rPr lang="en-US" sz="100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ペインが「趣味アマ」だけに偏らず、プロ・学生など競技志向の層でも出れば本物。アマの愚痴だけなら割り引く。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評価方法 ② ｜ 監督・経営向けアンケート（N=50）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評価する側にも「評価しきれない困りごと」があるか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0" y="48508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1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PitchLog  |  MAZDA 新規事業開発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目的：評価する側（指導・運営）の困りごとと、導入意思を測る。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046720" cy="292608"/>
          </a:xfrm>
          <a:prstGeom prst="rect">
            <a:avLst/>
          </a:prstGeom>
          <a:solidFill>
            <a:srgbClr val="1F2A26"/>
          </a:solidFill>
        </p:spPr>
      </p:sp>
      <p:sp>
        <p:nvSpPr>
          <p:cNvPr id="7" name="Text 5"/>
          <p:cNvSpPr/>
          <p:nvPr/>
        </p:nvSpPr>
        <p:spPr>
          <a:xfrm>
            <a:off x="640080" y="1417320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設問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00200" y="1417320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何を測るか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49040" y="1417320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判定ライン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12280" y="141732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示すこと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709928"/>
            <a:ext cx="8046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09928"/>
            <a:ext cx="7955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Q1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属性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1709928"/>
            <a:ext cx="1965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立場・レベル（プロ/学生/育成/離脱）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3749040" y="1709928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「①プロ関係者」の回答が最も価値が高い。一般パネルでは少数の想定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812280" y="1709928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回答者がどの層か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548640" y="2441448"/>
            <a:ext cx="8046720" cy="731520"/>
          </a:xfrm>
          <a:prstGeom prst="rect">
            <a:avLst/>
          </a:prstGeom>
          <a:solidFill>
            <a:srgbClr val="EAF3EE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441448"/>
            <a:ext cx="45720" cy="731520"/>
          </a:xfrm>
          <a:prstGeom prst="rect">
            <a:avLst/>
          </a:prstGeom>
          <a:solidFill>
            <a:srgbClr val="1E5C3F"/>
          </a:solidFill>
        </p:spPr>
      </p:sp>
      <p:sp>
        <p:nvSpPr>
          <p:cNvPr id="18" name="Text 16"/>
          <p:cNvSpPr/>
          <p:nvPr/>
        </p:nvSpPr>
        <p:spPr>
          <a:xfrm>
            <a:off x="658368" y="2441448"/>
            <a:ext cx="7955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Q2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ペイン有無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2441448"/>
            <a:ext cx="1965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選手を評価しきれないと感じた頻度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3749040" y="2441448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「何度もある＋時々あった」が </a:t>
            </a:r>
            <a:endParaRPr lang="en-US" sz="8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50%以上 → 評価する側も困っている＝構造問題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6812280" y="2441448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ペインが供給側にも実在するか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48640" y="3172968"/>
            <a:ext cx="8046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172968"/>
            <a:ext cx="7955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Q3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ペインの質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3172968"/>
            <a:ext cx="1965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困る場面の内訳（複数選択）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3749040" y="3172968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「②言葉でしか伝えられない」「⑥ツールがない」に注目。コア用途への需要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6812280" y="3172968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どこに解決余地があるか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548640" y="3904488"/>
            <a:ext cx="8046720" cy="731520"/>
          </a:xfrm>
          <a:prstGeom prst="rect">
            <a:avLst/>
          </a:prstGeom>
          <a:solidFill>
            <a:srgbClr val="F6F7F6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904488"/>
            <a:ext cx="7955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Q4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導入意思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00200" y="3904488"/>
            <a:ext cx="1965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費用負担の意向（予算/価格次第/無料）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3749040" y="3904488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「①＋②」が過半 → 導入需要あり。①予算取ってでも はB2Bの芽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6812280" y="3904488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クラブが金を出すか（財布）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548640" y="4462272"/>
            <a:ext cx="8046720" cy="475488"/>
          </a:xfrm>
          <a:prstGeom prst="roundRect">
            <a:avLst>
              <a:gd name="adj" fmla="val 9615"/>
            </a:avLst>
          </a:prstGeom>
          <a:solidFill>
            <a:srgbClr val="F7EBCF"/>
          </a:solidFill>
        </p:spPr>
      </p:sp>
      <p:sp>
        <p:nvSpPr>
          <p:cNvPr id="33" name="Text 31"/>
          <p:cNvSpPr/>
          <p:nvPr/>
        </p:nvSpPr>
        <p:spPr>
          <a:xfrm>
            <a:off x="777240" y="4462272"/>
            <a:ext cx="7589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C8911C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解釈上の注意：</a:t>
            </a:r>
            <a:r>
              <a:rPr lang="en-US" sz="93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 一般パネルではプロクラブの強化部・経営はほぼ取れず、回答者は少年団・育成の指導者が中心になる。本アンケートで分かるのは「育成・アマ現場のペイン」まで。Jクラブが買うかは判定不能。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評価方法 ③ ｜ 総合判定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2本を突き合わせて、Go / No-Go を読む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0" y="48508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5A1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PitchLog  |  MAZDA 新規事業開発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回答を見る前に判定ラインを引いておく（後から解釈するとお手盛りになるため）。N=50ずつの目安。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886200" cy="1097280"/>
          </a:xfrm>
          <a:prstGeom prst="roundRect">
            <a:avLst>
              <a:gd name="adj" fmla="val 5000"/>
            </a:avLst>
          </a:prstGeom>
          <a:solidFill>
            <a:srgbClr val="F6F7F6"/>
          </a:solidFill>
          <a:ln w="9525">
            <a:solidFill>
              <a:srgbClr val="D9DE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1097280"/>
          </a:xfrm>
          <a:prstGeom prst="rect">
            <a:avLst/>
          </a:prstGeom>
          <a:solidFill>
            <a:srgbClr val="1E5C3F"/>
          </a:solidFill>
        </p:spPr>
      </p:sp>
      <p:sp>
        <p:nvSpPr>
          <p:cNvPr id="8" name="Text 6"/>
          <p:cNvSpPr/>
          <p:nvPr/>
        </p:nvSpPr>
        <p:spPr>
          <a:xfrm>
            <a:off x="768096" y="15727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① ペインの実在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" y="1865376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選手Q2 と 監督Q2 が両方「何度もある＋時々」50%以上 → ペインは需給双方に実在する構造問題と判定。片方だけ高い場合は片側の思い込みを疑う。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3886200" cy="1097280"/>
          </a:xfrm>
          <a:prstGeom prst="roundRect">
            <a:avLst>
              <a:gd name="adj" fmla="val 5000"/>
            </a:avLst>
          </a:prstGeom>
          <a:solidFill>
            <a:srgbClr val="F6F7F6"/>
          </a:solidFill>
          <a:ln w="9525">
            <a:solidFill>
              <a:srgbClr val="D9DE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463040"/>
            <a:ext cx="54864" cy="1097280"/>
          </a:xfrm>
          <a:prstGeom prst="rect">
            <a:avLst/>
          </a:prstGeom>
          <a:solidFill>
            <a:srgbClr val="1E5C3F"/>
          </a:solidFill>
        </p:spPr>
      </p:sp>
      <p:sp>
        <p:nvSpPr>
          <p:cNvPr id="12" name="Text 10"/>
          <p:cNvSpPr/>
          <p:nvPr/>
        </p:nvSpPr>
        <p:spPr>
          <a:xfrm>
            <a:off x="4928616" y="15727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② 痛みの一致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28616" y="1865376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選手Q3「説明できなかった」と監督Q3「言葉でしか伝えられない」が両版で上位 → "説明できない" が共通の痛み。PitchLogの共通言語化がドンピシャ。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3886200" cy="1097280"/>
          </a:xfrm>
          <a:prstGeom prst="roundRect">
            <a:avLst>
              <a:gd name="adj" fmla="val 5000"/>
            </a:avLst>
          </a:prstGeom>
          <a:solidFill>
            <a:srgbClr val="F6F7F6"/>
          </a:solidFill>
          <a:ln w="9525">
            <a:solidFill>
              <a:srgbClr val="D9DE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97480"/>
            <a:ext cx="54864" cy="1097280"/>
          </a:xfrm>
          <a:prstGeom prst="rect">
            <a:avLst/>
          </a:prstGeom>
          <a:solidFill>
            <a:srgbClr val="1E5C3F"/>
          </a:solidFill>
        </p:spPr>
      </p:sp>
      <p:sp>
        <p:nvSpPr>
          <p:cNvPr id="16" name="Text 14"/>
          <p:cNvSpPr/>
          <p:nvPr/>
        </p:nvSpPr>
        <p:spPr>
          <a:xfrm>
            <a:off x="768096" y="280720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③ 需要・財布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" y="3099816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選手Q4・監督Q4 ともに「①＋②」が過半 → 需要シグナル。選手①自腹＝B2Cの芽／監督①予算取ってでも＝B2Bの芽。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709160" y="2697480"/>
            <a:ext cx="3886200" cy="1097280"/>
          </a:xfrm>
          <a:prstGeom prst="roundRect">
            <a:avLst>
              <a:gd name="adj" fmla="val 5000"/>
            </a:avLst>
          </a:prstGeom>
          <a:solidFill>
            <a:srgbClr val="F6F7F6"/>
          </a:solidFill>
          <a:ln w="9525">
            <a:solidFill>
              <a:srgbClr val="D9DE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697480"/>
            <a:ext cx="54864" cy="1097280"/>
          </a:xfrm>
          <a:prstGeom prst="rect">
            <a:avLst/>
          </a:prstGeom>
          <a:solidFill>
            <a:srgbClr val="1E5C3F"/>
          </a:solidFill>
        </p:spPr>
      </p:sp>
      <p:sp>
        <p:nvSpPr>
          <p:cNvPr id="20" name="Text 18"/>
          <p:cNvSpPr/>
          <p:nvPr/>
        </p:nvSpPr>
        <p:spPr>
          <a:xfrm>
            <a:off x="4928616" y="280720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④ 健全性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28616" y="3099816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5A6663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ペインが選手「趣味アマ」・監督「少年団」だけに偏っていないか。競技志向の層でも出れば本物。育成・アマだけなら市場を親・育成寄りと読み替える。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8046720" cy="804672"/>
          </a:xfrm>
          <a:prstGeom prst="roundRect">
            <a:avLst>
              <a:gd name="adj" fmla="val 6818"/>
            </a:avLst>
          </a:prstGeom>
          <a:solidFill>
            <a:srgbClr val="EAF3EE"/>
          </a:solidFill>
          <a:ln w="12700">
            <a:solidFill>
              <a:srgbClr val="1E5C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105656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最終判定の考え方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4361688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E5C3F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Go＝</a:t>
            </a:r>
            <a:r>
              <a:rPr lang="en-US" sz="95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①②③が揃う（ペイン実在・痛み一致・需要あり）。 </a:t>
            </a:r>
            <a:r>
              <a:rPr lang="en-US" sz="950" b="1" dirty="0">
                <a:solidFill>
                  <a:srgbClr val="C8911C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保留＝</a:t>
            </a:r>
            <a:r>
              <a:rPr lang="en-US" sz="95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①は出たが③が弱い（困ってはいるが金は別）。 </a:t>
            </a:r>
            <a:r>
              <a:rPr lang="en-US" sz="950" b="1" dirty="0">
                <a:solidFill>
                  <a:srgbClr val="B23B3B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No-Go＝</a:t>
            </a:r>
            <a:r>
              <a:rPr lang="en-US" sz="950" dirty="0">
                <a:solidFill>
                  <a:srgbClr val="1F2A26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①が30%未満、または④で趣味アマに偏在。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901184"/>
            <a:ext cx="5852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5A1"/>
                </a:solidFill>
                <a:latin typeface="游ゴシック" panose="020B0400000000000000" pitchFamily="34" charset="-128"/>
                <a:ea typeface="游ゴシック" panose="020B0400000000000000" pitchFamily="34" charset="-122"/>
                <a:cs typeface="游ゴシック" panose="020B0400000000000000" pitchFamily="34" charset="-120"/>
              </a:rPr>
              <a:t>※ このアンケートで判定できるのは「選手・指導現場のペイン実在」まで。Jクラブ（プロの財布）の購買可否は、公開情報・既存サービス調査など別の机上手段で確認する。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1552</Words>
  <Application>WPS Presentation</Application>
  <PresentationFormat>On-screen Show (16:9)</PresentationFormat>
  <Paragraphs>140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ＭＳ Ｐゴシック</vt:lpstr>
      <vt:lpstr>Wingdings</vt:lpstr>
      <vt:lpstr>游ゴシック</vt:lpstr>
      <vt:lpstr>游ゴシック</vt:lpstr>
      <vt:lpstr>游ゴシック</vt:lpstr>
      <vt:lpstr>Calibri</vt:lpstr>
      <vt:lpstr>Microsoft YaHei</vt:lpstr>
      <vt:lpstr>ＭＳ Ｐゴシック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PitchLog アンケート評価方法</dc:title>
  <dc:creator>PptxGenJS</dc:creator>
  <dc:subject>PptxGenJS Presentation</dc:subject>
  <cp:lastModifiedBy>User</cp:lastModifiedBy>
  <cp:revision>2</cp:revision>
  <dcterms:created xsi:type="dcterms:W3CDTF">2026-06-11T01:11:00Z</dcterms:created>
  <dcterms:modified xsi:type="dcterms:W3CDTF">2026-06-13T13:04:36Z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1C90FC0459BC485DA7A3F16786ACF902</vt:lpwstr>
  </property>
  <property fmtid="{D5CDD505-2E9C-101B-9397-08002B2CF9AE}" pid="3" name="KSOProductBuildVer">
    <vt:lpwstr>1041-11.2.0.10721</vt:lpwstr>
  </property>
</Properties>
</file>